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822960"/>
            <a:ext cx="12024360" cy="4572"/>
          </a:xfrm>
          <a:prstGeom prst="rect">
            <a:avLst/>
          </a:prstGeom>
          <a:solidFill>
            <a:srgbClr val="2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1645920"/>
            <a:ext cx="12024360" cy="4572"/>
          </a:xfrm>
          <a:prstGeom prst="rect">
            <a:avLst/>
          </a:prstGeom>
          <a:solidFill>
            <a:srgbClr val="2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2468880"/>
            <a:ext cx="12024360" cy="4572"/>
          </a:xfrm>
          <a:prstGeom prst="rect">
            <a:avLst/>
          </a:prstGeom>
          <a:solidFill>
            <a:srgbClr val="2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3291840"/>
            <a:ext cx="12024360" cy="4572"/>
          </a:xfrm>
          <a:prstGeom prst="rect">
            <a:avLst/>
          </a:prstGeom>
          <a:solidFill>
            <a:srgbClr val="2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" y="4114800"/>
            <a:ext cx="12024360" cy="4572"/>
          </a:xfrm>
          <a:prstGeom prst="rect">
            <a:avLst/>
          </a:prstGeom>
          <a:solidFill>
            <a:srgbClr val="2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" y="4937760"/>
            <a:ext cx="12024360" cy="4572"/>
          </a:xfrm>
          <a:prstGeom prst="rect">
            <a:avLst/>
          </a:prstGeom>
          <a:solidFill>
            <a:srgbClr val="2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4592" y="5760720"/>
            <a:ext cx="12024360" cy="4572"/>
          </a:xfrm>
          <a:prstGeom prst="rect">
            <a:avLst/>
          </a:prstGeom>
          <a:solidFill>
            <a:srgbClr val="2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743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2001A"/>
                </a:solidFill>
                <a:latin typeface="Arial"/>
              </a:rPr>
              <a:t>UBS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005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AACC"/>
                </a:solidFill>
                <a:latin typeface="Arial"/>
              </a:rPr>
              <a:t>You &amp;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Client Lifecycle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D5EA"/>
                </a:solidFill>
                <a:latin typeface="Arial"/>
              </a:rPr>
              <a:t>KYC Module — Mock UI Design Blueprint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29000"/>
            <a:ext cx="7772400" cy="9144"/>
          </a:xfrm>
          <a:prstGeom prst="rect">
            <a:avLst/>
          </a:prstGeom>
          <a:noFill/>
          <a:ln w="25400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11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Arial"/>
              </a:rPr>
              <a:t>Version 1.0  ·  Focus: LHS Navigation &amp; KYC Deep-Dive  ·  Status: Pending Technical Clarifications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1362456" cy="292608"/>
          </a:xfrm>
          <a:prstGeom prst="rect">
            <a:avLst/>
          </a:prstGeom>
          <a:solidFill>
            <a:srgbClr val="2A3255"/>
          </a:solidFill>
          <a:ln w="9525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151376"/>
            <a:ext cx="12710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Client Profile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4114800"/>
            <a:ext cx="1362456" cy="292608"/>
          </a:xfrm>
          <a:prstGeom prst="rect">
            <a:avLst/>
          </a:prstGeom>
          <a:solidFill>
            <a:srgbClr val="2A3255"/>
          </a:solidFill>
          <a:ln w="9525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29967" y="4151376"/>
            <a:ext cx="12710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Name Screening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1296" y="4114800"/>
            <a:ext cx="1517904" cy="292608"/>
          </a:xfrm>
          <a:prstGeom prst="rect">
            <a:avLst/>
          </a:prstGeom>
          <a:solidFill>
            <a:srgbClr val="2A3255"/>
          </a:solidFill>
          <a:ln w="9525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57015" y="4151376"/>
            <a:ext cx="14264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Source of Wealth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93792" y="4114800"/>
            <a:ext cx="1284732" cy="292608"/>
          </a:xfrm>
          <a:prstGeom prst="rect">
            <a:avLst/>
          </a:prstGeom>
          <a:solidFill>
            <a:srgbClr val="2A3255"/>
          </a:solidFill>
          <a:ln w="9525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39512" y="4151376"/>
            <a:ext cx="11932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Due Diligence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3116" y="4114800"/>
            <a:ext cx="1362456" cy="292608"/>
          </a:xfrm>
          <a:prstGeom prst="rect">
            <a:avLst/>
          </a:prstGeom>
          <a:solidFill>
            <a:srgbClr val="2A3255"/>
          </a:solidFill>
          <a:ln w="9525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88836" y="4151376"/>
            <a:ext cx="12710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EDD Assessment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Confidential  ·  Internal Use Only  ·  © UBS Group AG 2026</a:t>
            </a:r>
          </a:p>
        </p:txBody>
      </p:sp>
      <p:sp>
        <p:nvSpPr>
          <p:cNvPr id="29" name="Oval 28"/>
          <p:cNvSpPr/>
          <p:nvPr/>
        </p:nvSpPr>
        <p:spPr>
          <a:xfrm>
            <a:off x="10634472" y="731520"/>
            <a:ext cx="2560320" cy="2560320"/>
          </a:xfrm>
          <a:prstGeom prst="ellipse">
            <a:avLst/>
          </a:prstGeom>
          <a:solidFill>
            <a:srgbClr val="15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54511" y="731520"/>
            <a:ext cx="1920240" cy="1920240"/>
          </a:xfrm>
          <a:prstGeom prst="ellipse">
            <a:avLst/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20272" y="731520"/>
            <a:ext cx="1188720" cy="1188720"/>
          </a:xfrm>
          <a:prstGeom prst="ellipse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920240" cy="64008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91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2001A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8"/>
                </a:solidFill>
                <a:latin typeface="Arial"/>
              </a:rPr>
              <a:t>CLM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49808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" y="832103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786384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Client Information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024127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06070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Partner Info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271016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30759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Business Relationship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517904"/>
            <a:ext cx="1920240" cy="2743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" y="1600200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1554480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KYC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1792224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82880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Client Profile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2039112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075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Name Screening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322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Source of Wealth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2532888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56946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Due Diligence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2779776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8163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EDD Assessment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3026664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0632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Generate CRR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3273552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728" y="3355848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" y="331012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Documents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3547872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728" y="3630168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358444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Products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382219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9728" y="390448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" y="385876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Approvals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09651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9728" y="417880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4133087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Contracting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37083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9728" y="445312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032" y="4407407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Account Activation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645151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4681727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Welcoming Client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46520"/>
            <a:ext cx="1920240" cy="41148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37160" y="6492240"/>
            <a:ext cx="274320" cy="2743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" y="651052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" y="65196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AB4C8"/>
                </a:solidFill>
                <a:latin typeface="Arial"/>
              </a:rPr>
              <a:t>Relationship Manager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20240" y="0"/>
            <a:ext cx="1026871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20240" y="566928"/>
            <a:ext cx="10268712" cy="9144"/>
          </a:xfrm>
          <a:prstGeom prst="rect">
            <a:avLst/>
          </a:prstGeom>
          <a:noFill/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9968" y="731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F36"/>
                </a:solidFill>
                <a:latin typeface="Arial"/>
              </a:rPr>
              <a:t>Macro Application Architecture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9968" y="3657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CLM Module Overview &amp; Navigation Hierarchy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18288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  <a:latin typeface="Arial"/>
              </a:rPr>
              <a:t>CLM  /  KYC  /  Macro Application Architecture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57400" y="731520"/>
            <a:ext cx="9921240" cy="5943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77440" y="914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CLM Application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77440" y="914400"/>
            <a:ext cx="2011680" cy="320040"/>
          </a:xfrm>
          <a:prstGeom prst="rect">
            <a:avLst/>
          </a:prstGeom>
          <a:solidFill>
            <a:srgbClr val="1A1F36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37760" y="868680"/>
            <a:ext cx="2286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10912" y="90525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Client Information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89120" y="1024127"/>
            <a:ext cx="548640" cy="4572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98080" y="822959"/>
            <a:ext cx="20116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71232" y="85039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F36"/>
                </a:solidFill>
                <a:latin typeface="Arial"/>
              </a:rPr>
              <a:t>Partner Information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23760" y="1024127"/>
            <a:ext cx="274320" cy="4572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498080" y="1207007"/>
            <a:ext cx="20116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71232" y="123443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F36"/>
                </a:solidFill>
                <a:latin typeface="Arial"/>
              </a:rPr>
              <a:t>Business Relationship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23760" y="1024127"/>
            <a:ext cx="274320" cy="4572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937760" y="1554480"/>
            <a:ext cx="2286000" cy="320040"/>
          </a:xfrm>
          <a:prstGeom prst="rect">
            <a:avLst/>
          </a:prstGeom>
          <a:solidFill>
            <a:srgbClr val="E2001A"/>
          </a:solidFill>
          <a:ln w="19050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10912" y="159105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KYC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89120" y="1709928"/>
            <a:ext cx="548640" cy="4572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937760" y="2240280"/>
            <a:ext cx="2286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10912" y="227685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Documents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89120" y="2395728"/>
            <a:ext cx="548640" cy="4572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937760" y="2926080"/>
            <a:ext cx="2286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10912" y="296265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Products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89120" y="3081528"/>
            <a:ext cx="548640" cy="4572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937760" y="3611880"/>
            <a:ext cx="2286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10912" y="364845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Approvals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389120" y="3767328"/>
            <a:ext cx="548640" cy="4572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937760" y="4297680"/>
            <a:ext cx="2286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10912" y="433425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Contracting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89120" y="4453128"/>
            <a:ext cx="548640" cy="4572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937760" y="4983480"/>
            <a:ext cx="2286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010912" y="502005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Account Activation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389120" y="5138928"/>
            <a:ext cx="548640" cy="4572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498080" y="4937760"/>
            <a:ext cx="20116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571232" y="496519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F36"/>
                </a:solidFill>
                <a:latin typeface="Arial"/>
              </a:rPr>
              <a:t>Welcoming Client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223760" y="5138928"/>
            <a:ext cx="274320" cy="4572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148840" y="6263640"/>
            <a:ext cx="9738360" cy="320040"/>
          </a:xfrm>
          <a:prstGeom prst="rect">
            <a:avLst/>
          </a:prstGeom>
          <a:solidFill>
            <a:srgbClr val="FEF3F3"/>
          </a:solidFill>
          <a:ln w="9525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286000" y="6281928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021B"/>
                </a:solidFill>
                <a:latin typeface="Arial"/>
              </a:rPr>
              <a:t>⚑  The core developmental complexity resides within the KYC module and its cross-dependencies with Approvals.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920240" cy="64008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91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2001A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8"/>
                </a:solidFill>
                <a:latin typeface="Arial"/>
              </a:rPr>
              <a:t>CLM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49808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" y="832103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786384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Client Information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024127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06070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Partner Info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271016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30759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Business Relationship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517904"/>
            <a:ext cx="1920240" cy="2743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" y="1600200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1554480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KYC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1792224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82880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Client Profile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2039112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075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Name Screening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322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Source of Wealth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2532888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56946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Due Diligence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2779776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8163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EDD Assessment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3026664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0632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Generate CRR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3273552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728" y="3355848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" y="331012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Documents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3547872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728" y="3630168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358444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Products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382219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9728" y="390448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" y="385876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Approvals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09651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9728" y="417880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4133087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Contracting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37083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9728" y="445312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032" y="4407407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Account Activation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645151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4681727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Welcoming Client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46520"/>
            <a:ext cx="1920240" cy="41148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37160" y="6492240"/>
            <a:ext cx="274320" cy="2743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" y="651052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" y="65196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AB4C8"/>
                </a:solidFill>
                <a:latin typeface="Arial"/>
              </a:rPr>
              <a:t>Relationship Manager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20240" y="0"/>
            <a:ext cx="1026871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20240" y="566928"/>
            <a:ext cx="10268712" cy="9144"/>
          </a:xfrm>
          <a:prstGeom prst="rect">
            <a:avLst/>
          </a:prstGeom>
          <a:noFill/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9968" y="731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F36"/>
                </a:solidFill>
                <a:latin typeface="Arial"/>
              </a:rPr>
              <a:t>KYC Module — Diagnostic &amp; Feature Matrix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9968" y="3657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Sub-module breakdown: Data, Integrations &amp; Development Status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18288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  <a:latin typeface="Arial"/>
              </a:rPr>
              <a:t>CLM  /  KYC  /  KYC Module — Diagnostic &amp; Feature Matrix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57400" y="731520"/>
            <a:ext cx="9921240" cy="57607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148840" y="804672"/>
            <a:ext cx="1737360" cy="347472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21992" y="84124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Sub-Module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86200" y="804672"/>
            <a:ext cx="2377440" cy="347472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59352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Data &amp; UI Display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804672"/>
            <a:ext cx="3017520" cy="347472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36792" y="841248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Actions &amp; Integrations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81159" y="804672"/>
            <a:ext cx="2788920" cy="347472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54311" y="841248"/>
            <a:ext cx="26974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Development Status / Open Items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48840" y="1152144"/>
            <a:ext cx="1737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40280" y="1207008"/>
            <a:ext cx="1600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Client Profile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86200" y="1152144"/>
            <a:ext cx="23774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77639" y="1207008"/>
            <a:ext cx="2240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Show Client History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1152144"/>
            <a:ext cx="3017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79" y="1207008"/>
            <a:ext cx="2880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[Action Required]
Generate CPAC draft (PQS)
Generate CRR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81159" y="1152144"/>
            <a:ext cx="2788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372599" y="1207008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875D"/>
                </a:solidFill>
                <a:latin typeface="Arial"/>
              </a:rPr>
              <a:t>✓ Clear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148840" y="1956816"/>
            <a:ext cx="1737360" cy="804672"/>
          </a:xfrm>
          <a:prstGeom prst="rect">
            <a:avLst/>
          </a:prstGeom>
          <a:solidFill>
            <a:srgbClr val="F4F5F7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40280" y="2011680"/>
            <a:ext cx="1600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Name Screening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86200" y="1956816"/>
            <a:ext cx="2377440" cy="804672"/>
          </a:xfrm>
          <a:prstGeom prst="rect">
            <a:avLst/>
          </a:prstGeom>
          <a:solidFill>
            <a:srgbClr val="F4F5F7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977639" y="2011680"/>
            <a:ext cx="2240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[UI Component]
NMS ID / Status / Result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63640" y="1956816"/>
            <a:ext cx="3017520" cy="804672"/>
          </a:xfrm>
          <a:prstGeom prst="rect">
            <a:avLst/>
          </a:prstGeom>
          <a:solidFill>
            <a:srgbClr val="F4F5F7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55079" y="2011680"/>
            <a:ext cx="2880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[Backend Integration]
NMS agent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281159" y="1956816"/>
            <a:ext cx="2788920" cy="804672"/>
          </a:xfrm>
          <a:prstGeom prst="rect">
            <a:avLst/>
          </a:prstGeom>
          <a:solidFill>
            <a:srgbClr val="F4F5F7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72599" y="2011680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A623"/>
                </a:solidFill>
                <a:latin typeface="Arial"/>
              </a:rPr>
              <a:t>⚠ No UI dev needed (ACMO)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148840" y="2761488"/>
            <a:ext cx="1737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240280" y="2816352"/>
            <a:ext cx="1600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Source of Wealth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86200" y="2761488"/>
            <a:ext cx="23774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977639" y="2816352"/>
            <a:ext cx="2240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AUM, Assets, Agents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263640" y="2761488"/>
            <a:ext cx="3017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55079" y="2816352"/>
            <a:ext cx="2880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[Logic Rule]
Financial · SOW Narrative · Corroboration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281159" y="2761488"/>
            <a:ext cx="2788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372599" y="2816352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021B"/>
                </a:solidFill>
                <a:latin typeface="Arial"/>
              </a:rPr>
              <a:t>TBC: Shared vs split screens for agents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148840" y="3566160"/>
            <a:ext cx="1737360" cy="804672"/>
          </a:xfrm>
          <a:prstGeom prst="rect">
            <a:avLst/>
          </a:prstGeom>
          <a:solidFill>
            <a:srgbClr val="F4F5F7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240280" y="3621024"/>
            <a:ext cx="1600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Due Diligence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86200" y="3566160"/>
            <a:ext cx="2377440" cy="804672"/>
          </a:xfrm>
          <a:prstGeom prst="rect">
            <a:avLst/>
          </a:prstGeom>
          <a:solidFill>
            <a:srgbClr val="F4F5F7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977639" y="3621024"/>
            <a:ext cx="2240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[UI Feature]
Expand/Collapse sections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263640" y="3566160"/>
            <a:ext cx="3017520" cy="804672"/>
          </a:xfrm>
          <a:prstGeom prst="rect">
            <a:avLst/>
          </a:prstGeom>
          <a:solidFill>
            <a:srgbClr val="F4F5F7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55079" y="3621024"/>
            <a:ext cx="2880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Front-end only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281159" y="3566160"/>
            <a:ext cx="2788920" cy="804672"/>
          </a:xfrm>
          <a:prstGeom prst="rect">
            <a:avLst/>
          </a:prstGeom>
          <a:solidFill>
            <a:srgbClr val="F4F5F7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372599" y="3621024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875D"/>
                </a:solidFill>
                <a:latin typeface="Arial"/>
              </a:rPr>
              <a:t>✓ Clear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148840" y="4370832"/>
            <a:ext cx="1737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240280" y="4425696"/>
            <a:ext cx="1600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EDD Assessment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886200" y="4370832"/>
            <a:ext cx="23774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977639" y="4425696"/>
            <a:ext cx="2240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Results for all EDD parties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63640" y="4370832"/>
            <a:ext cx="3017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55079" y="4425696"/>
            <a:ext cx="2880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[Backend Integration]
Route to EDD app to create new case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281159" y="4370832"/>
            <a:ext cx="2788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372599" y="4425696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5AA7"/>
                </a:solidFill>
                <a:latin typeface="Arial"/>
              </a:rPr>
              <a:t>[Logic Rule] Calculate at Partner &amp; eligible related party level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920240" cy="64008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91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2001A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8"/>
                </a:solidFill>
                <a:latin typeface="Arial"/>
              </a:rPr>
              <a:t>CLM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49808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" y="832103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786384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Client Information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024127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06070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Partner Info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271016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30759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Business Relationship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517904"/>
            <a:ext cx="1920240" cy="2743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" y="1600200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1554480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KYC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1792224"/>
            <a:ext cx="1920240" cy="246888"/>
          </a:xfrm>
          <a:prstGeom prst="rect">
            <a:avLst/>
          </a:prstGeom>
          <a:solidFill>
            <a:srgbClr val="2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792224"/>
            <a:ext cx="45720" cy="246888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82880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— Client Profile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2039112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075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Name Screening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2286000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322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Source of Wealth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2532888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56946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Due Diligence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2779776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163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EDD Assessment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3026664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0632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Generate CRR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3273552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9728" y="3355848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331012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Documents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3547872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9728" y="3630168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" y="358444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Products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382219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9728" y="390448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85876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Approvals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09651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9728" y="417880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" y="4133087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Contracting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37083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9728" y="445312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6032" y="4407407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Account Activation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645151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681727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Welcoming Client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46520"/>
            <a:ext cx="1920240" cy="41148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37160" y="6492240"/>
            <a:ext cx="274320" cy="2743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" y="651052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" y="65196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AB4C8"/>
                </a:solidFill>
                <a:latin typeface="Arial"/>
              </a:rPr>
              <a:t>Relationship Manager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20240" y="0"/>
            <a:ext cx="1026871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20240" y="566928"/>
            <a:ext cx="10268712" cy="9144"/>
          </a:xfrm>
          <a:prstGeom prst="rect">
            <a:avLst/>
          </a:prstGeom>
          <a:noFill/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29968" y="731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F36"/>
                </a:solidFill>
                <a:latin typeface="Arial"/>
              </a:rPr>
              <a:t>Client Profile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29968" y="3657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KYC · Fill client history and generate documents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18288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  <a:latin typeface="Arial"/>
              </a:rPr>
              <a:t>CLM  /  KYC  /  Client Profile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713232"/>
            <a:ext cx="9921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057400" y="713232"/>
            <a:ext cx="73152" cy="100584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40280" y="804672"/>
            <a:ext cx="685800" cy="685800"/>
          </a:xfrm>
          <a:prstGeom prst="ellipse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40280" y="85039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JD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35808" y="7863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F36"/>
                </a:solidFill>
                <a:latin typeface="Arial"/>
              </a:rPr>
              <a:t>John Doe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35808" y="106070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Partner ID: P-00482  ·  Relationship Manager: Priya Singh  ·  Risk Rating: Medium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0" y="822960"/>
            <a:ext cx="640080" cy="246888"/>
          </a:xfrm>
          <a:prstGeom prst="rect">
            <a:avLst/>
          </a:prstGeom>
          <a:solidFill>
            <a:srgbClr val="00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0" y="832104"/>
            <a:ext cx="640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Active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400032" y="822960"/>
            <a:ext cx="1554480" cy="2468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00032" y="832104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KYC Due: 30 Jun 2026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1828800"/>
            <a:ext cx="47091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94560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Client History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48840" y="2194560"/>
            <a:ext cx="4526280" cy="9144"/>
          </a:xfrm>
          <a:prstGeom prst="rect">
            <a:avLst/>
          </a:prstGeom>
          <a:noFill/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148840" y="2286000"/>
            <a:ext cx="4526280" cy="365760"/>
          </a:xfrm>
          <a:prstGeom prst="rect">
            <a:avLst/>
          </a:prstGeom>
          <a:solidFill>
            <a:srgbClr val="F4F5F7"/>
          </a:solidFill>
          <a:ln w="381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40280" y="23591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  <a:latin typeface="Arial"/>
              </a:rPr>
              <a:t>Onboarding Date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97680" y="23591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Arial"/>
              </a:rPr>
              <a:t>12 March 2019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148840" y="2697480"/>
            <a:ext cx="45262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40280" y="27706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  <a:latin typeface="Arial"/>
              </a:rPr>
              <a:t>Last KYC Review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97680" y="27706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Arial"/>
              </a:rPr>
              <a:t>14 January 2024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148840" y="3108960"/>
            <a:ext cx="4526280" cy="365760"/>
          </a:xfrm>
          <a:prstGeom prst="rect">
            <a:avLst/>
          </a:prstGeom>
          <a:solidFill>
            <a:srgbClr val="F4F5F7"/>
          </a:solidFill>
          <a:ln w="381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240280" y="318211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  <a:latin typeface="Arial"/>
              </a:rPr>
              <a:t>AUM (Total)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97680" y="31821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Arial"/>
              </a:rPr>
              <a:t>CHF 4.2M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148840" y="3520440"/>
            <a:ext cx="45262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240280" y="35935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  <a:latin typeface="Arial"/>
              </a:rPr>
              <a:t>Domicile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97680" y="359359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Arial"/>
              </a:rPr>
              <a:t>Switzerland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48840" y="3931920"/>
            <a:ext cx="4526280" cy="365760"/>
          </a:xfrm>
          <a:prstGeom prst="rect">
            <a:avLst/>
          </a:prstGeom>
          <a:solidFill>
            <a:srgbClr val="F4F5F7"/>
          </a:solidFill>
          <a:ln w="381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40280" y="40050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  <a:latin typeface="Arial"/>
              </a:rPr>
              <a:t>Citizenship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97680" y="400507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Arial"/>
              </a:rPr>
              <a:t>German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48840" y="4343400"/>
            <a:ext cx="45262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240280" y="44165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  <a:latin typeface="Arial"/>
              </a:rPr>
              <a:t>Business Relationship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97680" y="44165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Arial"/>
              </a:rPr>
              <a:t>Wealth Management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148840" y="4754880"/>
            <a:ext cx="4526280" cy="365760"/>
          </a:xfrm>
          <a:prstGeom prst="rect">
            <a:avLst/>
          </a:prstGeom>
          <a:solidFill>
            <a:srgbClr val="F4F5F7"/>
          </a:solidFill>
          <a:ln w="381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240280" y="4828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  <a:latin typeface="Arial"/>
              </a:rPr>
              <a:t>Risk Segment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97680" y="48280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Arial"/>
              </a:rPr>
              <a:t>Medium Risk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148840" y="5166360"/>
            <a:ext cx="45262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240280" y="523951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  <a:latin typeface="Arial"/>
              </a:rPr>
              <a:t>EDD Required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97680" y="52395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Arial"/>
              </a:rPr>
              <a:t>No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903720" y="1828800"/>
            <a:ext cx="324612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040880" y="19019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Document Generation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995160" y="2194560"/>
            <a:ext cx="3063240" cy="9144"/>
          </a:xfrm>
          <a:prstGeom prst="rect">
            <a:avLst/>
          </a:prstGeom>
          <a:noFill/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022592" y="2286000"/>
            <a:ext cx="2971800" cy="1691640"/>
          </a:xfrm>
          <a:prstGeom prst="rect">
            <a:avLst/>
          </a:prstGeom>
          <a:solidFill>
            <a:srgbClr val="F4F5F7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022592" y="2286000"/>
            <a:ext cx="2971800" cy="45720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150608" y="23591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CPAC Draft (PQS)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150608" y="26334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57575"/>
                </a:solidFill>
                <a:latin typeface="Arial"/>
              </a:rPr>
              <a:t>Pre-qualification sheet for committee
review. Requires client history completion.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150608" y="3035808"/>
            <a:ext cx="1371600" cy="2286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150608" y="3044951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Action Required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150608" y="3328416"/>
            <a:ext cx="2788920" cy="301752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150608" y="3355848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Generate PDF →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022592" y="4096512"/>
            <a:ext cx="2971800" cy="1691640"/>
          </a:xfrm>
          <a:prstGeom prst="rect">
            <a:avLst/>
          </a:prstGeom>
          <a:solidFill>
            <a:srgbClr val="F4F5F7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022592" y="4096512"/>
            <a:ext cx="2971800" cy="457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150608" y="4169663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Client Risk Rating (CRR)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150608" y="444398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57575"/>
                </a:solidFill>
                <a:latin typeface="Arial"/>
              </a:rPr>
              <a:t>Calculates and documents the overall
client risk score based on all KYC inputs.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150608" y="4837176"/>
            <a:ext cx="1371600" cy="2286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150608" y="4846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Action Required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150608" y="5129784"/>
            <a:ext cx="2788920" cy="301752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150608" y="5157216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Generate CRR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920240" cy="64008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91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2001A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8"/>
                </a:solidFill>
                <a:latin typeface="Arial"/>
              </a:rPr>
              <a:t>CLM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49808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" y="832103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786384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Client Information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024127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06070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Partner Info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271016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30759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Business Relationship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517904"/>
            <a:ext cx="1920240" cy="2743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" y="1600200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1554480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KYC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1792224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82880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Client Profile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2039112"/>
            <a:ext cx="1920240" cy="246888"/>
          </a:xfrm>
          <a:prstGeom prst="rect">
            <a:avLst/>
          </a:prstGeom>
          <a:solidFill>
            <a:srgbClr val="2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039112"/>
            <a:ext cx="45720" cy="246888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075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— Name Screening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2286000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322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Source of Wealth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2532888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56946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Due Diligence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2779776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163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EDD Assessment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3026664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0632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Generate CRR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3273552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9728" y="3355848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331012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Documents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3547872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9728" y="3630168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" y="358444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Products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382219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9728" y="390448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85876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Approvals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09651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9728" y="417880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" y="4133087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Contracting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37083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9728" y="445312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6032" y="4407407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Account Activation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645151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681727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Welcoming Client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46520"/>
            <a:ext cx="1920240" cy="41148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37160" y="6492240"/>
            <a:ext cx="274320" cy="2743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" y="651052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" y="65196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AB4C8"/>
                </a:solidFill>
                <a:latin typeface="Arial"/>
              </a:rPr>
              <a:t>Relationship Manager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20240" y="0"/>
            <a:ext cx="1026871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20240" y="566928"/>
            <a:ext cx="10268712" cy="9144"/>
          </a:xfrm>
          <a:prstGeom prst="rect">
            <a:avLst/>
          </a:prstGeom>
          <a:noFill/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29968" y="731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F36"/>
                </a:solidFill>
                <a:latin typeface="Arial"/>
              </a:rPr>
              <a:t>Name Screening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29968" y="3657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KYC · NMS integration — Read-only status display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18288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  <a:latin typeface="Arial"/>
              </a:rPr>
              <a:t>CLM  /  KYC  /  Name Screening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685800"/>
            <a:ext cx="9921240" cy="347472"/>
          </a:xfrm>
          <a:prstGeom prst="rect">
            <a:avLst/>
          </a:prstGeom>
          <a:solidFill>
            <a:srgbClr val="FFF8E7"/>
          </a:solidFill>
          <a:ln w="952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94560" y="7315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6000"/>
                </a:solidFill>
                <a:latin typeface="Arial"/>
              </a:rPr>
              <a:t>ℹ  No screen development required from ACMO — This screen is a read-only UI component (Assigned to: Ram)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57400" y="1143000"/>
            <a:ext cx="470916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057400" y="1143000"/>
            <a:ext cx="4709160" cy="36576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194560" y="120700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UI COMPONENT  —  Read Only Display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48840" y="1627632"/>
            <a:ext cx="4526280" cy="566928"/>
          </a:xfrm>
          <a:prstGeom prst="rect">
            <a:avLst/>
          </a:prstGeom>
          <a:solidFill>
            <a:srgbClr val="F4F5F7"/>
          </a:solidFill>
          <a:ln w="381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67712" y="16916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NMS ID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31920" y="17373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Arial"/>
              </a:rPr>
              <a:t>NMS-2024-00391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48840" y="2267712"/>
            <a:ext cx="45262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67712" y="23317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Screening Status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31920" y="2432304"/>
            <a:ext cx="1005840" cy="256032"/>
          </a:xfrm>
          <a:prstGeom prst="rect">
            <a:avLst/>
          </a:prstGeom>
          <a:solidFill>
            <a:srgbClr val="00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31920" y="24414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CLEARED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48840" y="2907791"/>
            <a:ext cx="4526280" cy="566928"/>
          </a:xfrm>
          <a:prstGeom prst="rect">
            <a:avLst/>
          </a:prstGeom>
          <a:solidFill>
            <a:srgbClr val="F4F5F7"/>
          </a:solidFill>
          <a:ln w="381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67712" y="2971799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Screening Date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31920" y="30175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Arial"/>
              </a:rPr>
              <a:t>08 March 2026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148840" y="3547872"/>
            <a:ext cx="45262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67712" y="3611879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Screened By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31920" y="3657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Arial"/>
              </a:rPr>
              <a:t>NMS Agent (Auto)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148840" y="4187952"/>
            <a:ext cx="4526280" cy="566928"/>
          </a:xfrm>
          <a:prstGeom prst="rect">
            <a:avLst/>
          </a:prstGeom>
          <a:solidFill>
            <a:srgbClr val="F4F5F7"/>
          </a:solidFill>
          <a:ln w="381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267712" y="4251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Last Updated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31920" y="42976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Arial"/>
              </a:rPr>
              <a:t>08 March 2026 14:22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48840" y="4828032"/>
            <a:ext cx="45262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267712" y="48920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Expiry Date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31920" y="49377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Arial"/>
              </a:rPr>
              <a:t>08 March 2027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903720" y="1143000"/>
            <a:ext cx="507492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03720" y="1143000"/>
            <a:ext cx="5074920" cy="365760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40880" y="120700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BACKEND INTEGRATION  —  NMS Agent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59168" y="162763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Integration Flow</a:t>
            </a:r>
          </a:p>
        </p:txBody>
      </p:sp>
      <p:sp>
        <p:nvSpPr>
          <p:cNvPr id="84" name="Oval 83"/>
          <p:cNvSpPr/>
          <p:nvPr/>
        </p:nvSpPr>
        <p:spPr>
          <a:xfrm>
            <a:off x="7114032" y="1965960"/>
            <a:ext cx="347472" cy="347472"/>
          </a:xfrm>
          <a:prstGeom prst="ellipse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14032" y="2011679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571231" y="1965960"/>
            <a:ext cx="4206240" cy="640080"/>
          </a:xfrm>
          <a:prstGeom prst="rect">
            <a:avLst/>
          </a:prstGeom>
          <a:solidFill>
            <a:srgbClr val="F4F5F7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680960" y="2057400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Arial"/>
              </a:rPr>
              <a:t>CLM requests NMS screening on client / related parties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269480" y="2313432"/>
            <a:ext cx="4572" cy="612648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114032" y="2926080"/>
            <a:ext cx="347472" cy="347472"/>
          </a:xfrm>
          <a:prstGeom prst="ellipse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14032" y="297180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571231" y="2926080"/>
            <a:ext cx="4206240" cy="640080"/>
          </a:xfrm>
          <a:prstGeom prst="rect">
            <a:avLst/>
          </a:prstGeom>
          <a:solidFill>
            <a:srgbClr val="F4F5F7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680960" y="3017520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Arial"/>
              </a:rPr>
              <a:t>NMS agent executes name matching against global watchlists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69480" y="3273552"/>
            <a:ext cx="4572" cy="612648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114032" y="3886200"/>
            <a:ext cx="347472" cy="347472"/>
          </a:xfrm>
          <a:prstGeom prst="ellipse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114032" y="393192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71231" y="3886200"/>
            <a:ext cx="4206240" cy="640080"/>
          </a:xfrm>
          <a:prstGeom prst="rect">
            <a:avLst/>
          </a:prstGeom>
          <a:solidFill>
            <a:srgbClr val="F4F5F7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680960" y="3977639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Arial"/>
              </a:rPr>
              <a:t>Result (CLEARED / PENDING / HIT) returned to CLM via API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69480" y="4233672"/>
            <a:ext cx="4572" cy="612648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114032" y="4846320"/>
            <a:ext cx="347472" cy="347472"/>
          </a:xfrm>
          <a:prstGeom prst="ellipse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14032" y="489204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71231" y="4846320"/>
            <a:ext cx="4206240" cy="640080"/>
          </a:xfrm>
          <a:prstGeom prst="rect">
            <a:avLst/>
          </a:prstGeom>
          <a:solidFill>
            <a:srgbClr val="F4F5F7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680960" y="4937760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Arial"/>
              </a:rPr>
              <a:t>CLM stores NMS ID + result — displayed read-only in this screen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995160" y="5897880"/>
            <a:ext cx="4892040" cy="502920"/>
          </a:xfrm>
          <a:prstGeom prst="rect">
            <a:avLst/>
          </a:prstGeom>
          <a:solidFill>
            <a:srgbClr val="FFF8E7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132320" y="5925312"/>
            <a:ext cx="4617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6000"/>
                </a:solidFill>
                <a:latin typeface="Arial"/>
              </a:rPr>
              <a:t>⚠  CONSTRAINT: Confirm ACMO screen development boundaries
for Name Screening integration before sprint planning.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920240" cy="64008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91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2001A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8"/>
                </a:solidFill>
                <a:latin typeface="Arial"/>
              </a:rPr>
              <a:t>CLM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49808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" y="832103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786384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Client Information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024127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06070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Partner Info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271016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30759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Business Relationship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517904"/>
            <a:ext cx="1920240" cy="2743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" y="1600200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1554480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KYC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1792224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82880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Client Profile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2039112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075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Name Screening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1920240" cy="246888"/>
          </a:xfrm>
          <a:prstGeom prst="rect">
            <a:avLst/>
          </a:prstGeom>
          <a:solidFill>
            <a:srgbClr val="2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2286000"/>
            <a:ext cx="45720" cy="246888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322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— Source of Wealth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2532888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56946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Due Diligence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2779776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163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EDD Assessment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3026664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0632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Generate CRR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3273552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9728" y="3355848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331012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Documents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3547872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9728" y="3630168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" y="358444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Products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382219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9728" y="390448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85876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Approvals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09651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9728" y="417880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" y="4133087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Contracting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37083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9728" y="445312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6032" y="4407407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Account Activation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645151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681727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Welcoming Client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46520"/>
            <a:ext cx="1920240" cy="41148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37160" y="6492240"/>
            <a:ext cx="274320" cy="2743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" y="651052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" y="65196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AB4C8"/>
                </a:solidFill>
                <a:latin typeface="Arial"/>
              </a:rPr>
              <a:t>Relationship Manager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20240" y="0"/>
            <a:ext cx="1026871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20240" y="566928"/>
            <a:ext cx="10268712" cy="9144"/>
          </a:xfrm>
          <a:prstGeom prst="rect">
            <a:avLst/>
          </a:prstGeom>
          <a:noFill/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29968" y="731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F36"/>
                </a:solidFill>
                <a:latin typeface="Arial"/>
              </a:rPr>
              <a:t>Source of Wealth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29968" y="3657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KYC · Logic tree routing — Financial · SOW Narrative · Corroboration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18288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  <a:latin typeface="Arial"/>
              </a:rPr>
              <a:t>CLM  /  KYC  /  Source of Wealth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685800"/>
            <a:ext cx="9921240" cy="347472"/>
          </a:xfrm>
          <a:prstGeom prst="rect">
            <a:avLst/>
          </a:prstGeom>
          <a:solidFill>
            <a:srgbClr val="FFEDED"/>
          </a:solidFill>
          <a:ln w="12700">
            <a:solidFill>
              <a:srgbClr val="D00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94560" y="7315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021B"/>
                </a:solidFill>
                <a:latin typeface="Arial"/>
              </a:rPr>
              <a:t>🔴  CRITICAL ARCHITECTURE DECISION PENDING: Determine if SOW Narrative &amp; Corroboration agents share the same screens or are split.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57400" y="1143000"/>
            <a:ext cx="2743200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057400" y="1143000"/>
            <a:ext cx="2743200" cy="347472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194560" y="11887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INPUTS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48840" y="1572768"/>
            <a:ext cx="2560320" cy="1325880"/>
          </a:xfrm>
          <a:prstGeom prst="rect">
            <a:avLst/>
          </a:prstGeom>
          <a:solidFill>
            <a:srgbClr val="F4F5F7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67712" y="166420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AUM Question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67712" y="19202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57575"/>
                </a:solidFill>
                <a:latin typeface="Arial"/>
              </a:rPr>
              <a:t>What is your total AUM?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67712" y="2377440"/>
            <a:ext cx="731520" cy="2286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67712" y="238658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Required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67712" y="2596896"/>
            <a:ext cx="2331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331720" y="263347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BBBBB"/>
                </a:solidFill>
                <a:latin typeface="Arial"/>
              </a:rPr>
              <a:t>Enter value…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48840" y="3035808"/>
            <a:ext cx="2560320" cy="1325880"/>
          </a:xfrm>
          <a:prstGeom prst="rect">
            <a:avLst/>
          </a:prstGeom>
          <a:solidFill>
            <a:srgbClr val="F4F5F7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67712" y="312724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Asset Information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67712" y="33832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57575"/>
                </a:solidFill>
                <a:latin typeface="Arial"/>
              </a:rPr>
              <a:t>List all financial assets held globally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67712" y="3840480"/>
            <a:ext cx="731520" cy="2286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67712" y="384962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Required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67712" y="4059936"/>
            <a:ext cx="2331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331720" y="409651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BBBBB"/>
                </a:solidFill>
                <a:latin typeface="Arial"/>
              </a:rPr>
              <a:t>Enter value…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148840" y="4498848"/>
            <a:ext cx="2560320" cy="1325880"/>
          </a:xfrm>
          <a:prstGeom prst="rect">
            <a:avLst/>
          </a:prstGeom>
          <a:solidFill>
            <a:srgbClr val="F4F5F7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267712" y="459028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67712" y="4846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57575"/>
                </a:solidFill>
                <a:latin typeface="Arial"/>
              </a:rPr>
              <a:t>Select applicable agents for SOW verification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67712" y="5303520"/>
            <a:ext cx="731520" cy="2286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267712" y="53126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Required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67712" y="5522976"/>
            <a:ext cx="2331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331720" y="555955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BBBBB"/>
                </a:solidFill>
                <a:latin typeface="Arial"/>
              </a:rPr>
              <a:t>Enter value…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800600" y="3456432"/>
            <a:ext cx="274320" cy="9144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074920" y="3246120"/>
            <a:ext cx="1097280" cy="41148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74920" y="321868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System
Logic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74920" y="367588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57575"/>
                </a:solidFill>
                <a:latin typeface="Arial"/>
              </a:rPr>
              <a:t>3 routes →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72200" y="3456432"/>
            <a:ext cx="457200" cy="9144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766560" y="1143000"/>
            <a:ext cx="5166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766560" y="1143000"/>
            <a:ext cx="73152" cy="1463040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931152" y="1234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F36"/>
                </a:solidFill>
                <a:latin typeface="Arial"/>
              </a:rPr>
              <a:t>i) Financial Information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31152" y="1527048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Displays AUM breakdown, asset allocation and income sources.
Pre-filled from AUM question inputs.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931152" y="2286000"/>
            <a:ext cx="1828800" cy="246888"/>
          </a:xfrm>
          <a:prstGeom prst="rect">
            <a:avLst/>
          </a:prstGeom>
          <a:solidFill>
            <a:srgbClr val="00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931152" y="2295144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No Action Required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766560" y="2834640"/>
            <a:ext cx="5166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766560" y="2834640"/>
            <a:ext cx="73152" cy="1463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931152" y="2926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F36"/>
                </a:solidFill>
                <a:latin typeface="Arial"/>
              </a:rPr>
              <a:t>ii) SOW Narrative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931152" y="3218688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Agent inputs narrative description of wealth source.
May share screen with Corroboration agent.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931152" y="3977639"/>
            <a:ext cx="1828800" cy="2468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931152" y="3986783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ARCHITECTURE TBC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66560" y="4526280"/>
            <a:ext cx="5166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766560" y="4526280"/>
            <a:ext cx="73152" cy="1463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931152" y="4617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F36"/>
                </a:solidFill>
                <a:latin typeface="Arial"/>
              </a:rPr>
              <a:t>iii) SOW Corroboration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931152" y="4910328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Agent uploads and verifies corroborating documents.
Linked to Documents module.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931152" y="5669280"/>
            <a:ext cx="1828800" cy="2468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931152" y="5678424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ARCHITECTURE TBC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920240" cy="64008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91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2001A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8"/>
                </a:solidFill>
                <a:latin typeface="Arial"/>
              </a:rPr>
              <a:t>CLM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49808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" y="832103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786384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Client Information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024127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06070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Partner Info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271016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30759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Business Relationship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517904"/>
            <a:ext cx="1920240" cy="2743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" y="1600200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1554480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KYC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1792224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82880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Client Profile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2039112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075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Name Screening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322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Source of Wealth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2532888"/>
            <a:ext cx="1920240" cy="246888"/>
          </a:xfrm>
          <a:prstGeom prst="rect">
            <a:avLst/>
          </a:prstGeom>
          <a:solidFill>
            <a:srgbClr val="2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532888"/>
            <a:ext cx="45720" cy="246888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56946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— Due Diligence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2779776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163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EDD Assessment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3026664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0632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Generate CRR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3273552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9728" y="3355848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331012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Documents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3547872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9728" y="3630168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" y="358444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Products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382219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9728" y="390448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85876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Approvals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09651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9728" y="417880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" y="4133087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Contracting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37083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9728" y="445312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6032" y="4407407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Account Activation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645151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681727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Welcoming Client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46520"/>
            <a:ext cx="1920240" cy="41148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37160" y="6492240"/>
            <a:ext cx="274320" cy="2743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" y="651052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" y="65196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AB4C8"/>
                </a:solidFill>
                <a:latin typeface="Arial"/>
              </a:rPr>
              <a:t>Relationship Manager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20240" y="0"/>
            <a:ext cx="1026871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20240" y="566928"/>
            <a:ext cx="10268712" cy="9144"/>
          </a:xfrm>
          <a:prstGeom prst="rect">
            <a:avLst/>
          </a:prstGeom>
          <a:noFill/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29968" y="731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F36"/>
                </a:solidFill>
                <a:latin typeface="Arial"/>
              </a:rPr>
              <a:t>Due Diligence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29968" y="3657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KYC · Expand/Collapse accordion sections — Front-end only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18288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  <a:latin typeface="Arial"/>
              </a:rPr>
              <a:t>CLM  /  KYC  /  Due Diligence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731520"/>
            <a:ext cx="9921240" cy="5852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40280" y="822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F36"/>
                </a:solidFill>
                <a:latin typeface="Arial"/>
              </a:rPr>
              <a:t>Due Diligence Questionnaire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92640" y="841248"/>
            <a:ext cx="1280160" cy="246888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85039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Front-end Only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48840" y="1170432"/>
            <a:ext cx="9738360" cy="9144"/>
          </a:xfrm>
          <a:prstGeom prst="rect">
            <a:avLst/>
          </a:prstGeom>
          <a:noFill/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40280" y="1234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  <a:latin typeface="Arial"/>
              </a:rPr>
              <a:t>Completion: 2 / 4 sections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0" y="1280160"/>
            <a:ext cx="3657600" cy="137160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1280160"/>
            <a:ext cx="1828800" cy="137160"/>
          </a:xfrm>
          <a:prstGeom prst="rect">
            <a:avLst/>
          </a:prstGeom>
          <a:solidFill>
            <a:srgbClr val="00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148840" y="1508760"/>
            <a:ext cx="9738360" cy="384048"/>
          </a:xfrm>
          <a:prstGeom prst="rect">
            <a:avLst/>
          </a:prstGeom>
          <a:solidFill>
            <a:srgbClr val="E8EDF5"/>
          </a:solidFill>
          <a:ln w="9525">
            <a:solidFill>
              <a:srgbClr val="1A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67712" y="16002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78608" y="160020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Employment Data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789920" y="1591056"/>
            <a:ext cx="1005840" cy="228600"/>
          </a:xfrm>
          <a:prstGeom prst="rect">
            <a:avLst/>
          </a:prstGeom>
          <a:solidFill>
            <a:srgbClr val="00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789920" y="16002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Completed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48840" y="1892807"/>
            <a:ext cx="9738360" cy="2221992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31720" y="200253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Employer Name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0" y="1965960"/>
            <a:ext cx="7132320" cy="347472"/>
          </a:xfrm>
          <a:prstGeom prst="rect">
            <a:avLst/>
          </a:prstGeom>
          <a:solidFill>
            <a:srgbClr val="F4F5F7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81728" y="2039112"/>
            <a:ext cx="690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Arial"/>
              </a:rPr>
              <a:t>UBS Group AG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331720" y="247802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Position / Title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0" y="2441448"/>
            <a:ext cx="7132320" cy="347472"/>
          </a:xfrm>
          <a:prstGeom prst="rect">
            <a:avLst/>
          </a:prstGeom>
          <a:solidFill>
            <a:srgbClr val="F4F5F7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681728" y="2514600"/>
            <a:ext cx="690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Arial"/>
              </a:rPr>
              <a:t>Managing Director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31720" y="295351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Employment Start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2916936"/>
            <a:ext cx="7132320" cy="347472"/>
          </a:xfrm>
          <a:prstGeom prst="rect">
            <a:avLst/>
          </a:prstGeom>
          <a:solidFill>
            <a:srgbClr val="F4F5F7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81728" y="2990088"/>
            <a:ext cx="690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Arial"/>
              </a:rPr>
              <a:t>01 June 2015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31720" y="34290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Annual Income (CHF)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0" y="3392424"/>
            <a:ext cx="7132320" cy="347472"/>
          </a:xfrm>
          <a:prstGeom prst="rect">
            <a:avLst/>
          </a:prstGeom>
          <a:solidFill>
            <a:srgbClr val="F4F5F7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81728" y="3465576"/>
            <a:ext cx="690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Arial"/>
              </a:rPr>
              <a:t>850,000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148840" y="4114800"/>
            <a:ext cx="9738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267712" y="42062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  <a:latin typeface="Arial"/>
              </a:rPr>
              <a:t>▶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78608" y="420624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Assessments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789920" y="4197096"/>
            <a:ext cx="1005840" cy="228600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789920" y="42062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57575"/>
                </a:solidFill>
                <a:latin typeface="Arial"/>
              </a:rPr>
              <a:t>Pending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148840" y="4572000"/>
            <a:ext cx="9738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267712" y="46634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  <a:latin typeface="Arial"/>
              </a:rPr>
              <a:t>▶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78608" y="466344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Questionnaires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789920" y="4654296"/>
            <a:ext cx="1005840" cy="228600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789920" y="46634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57575"/>
                </a:solidFill>
                <a:latin typeface="Arial"/>
              </a:rPr>
              <a:t>Pending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48840" y="5029200"/>
            <a:ext cx="9738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267712" y="51206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  <a:latin typeface="Arial"/>
              </a:rPr>
              <a:t>▶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578608" y="512064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Domicile Verification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789920" y="5111496"/>
            <a:ext cx="1005840" cy="228600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789920" y="51206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57575"/>
                </a:solidFill>
                <a:latin typeface="Arial"/>
              </a:rPr>
              <a:t>Pending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920240" cy="64008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91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2001A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8"/>
                </a:solidFill>
                <a:latin typeface="Arial"/>
              </a:rPr>
              <a:t>CLM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49808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" y="832103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786384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Client Information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024127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06070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Partner Info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271016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30759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Business Relationship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517904"/>
            <a:ext cx="1920240" cy="2743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" y="1600200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1554480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KYC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1792224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82880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Client Profile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2039112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075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Name Screening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322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Source of Wealth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2532888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56946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Due Diligence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2779776"/>
            <a:ext cx="1920240" cy="246888"/>
          </a:xfrm>
          <a:prstGeom prst="rect">
            <a:avLst/>
          </a:prstGeom>
          <a:solidFill>
            <a:srgbClr val="2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2779776"/>
            <a:ext cx="45720" cy="246888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163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— EDD Assessment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3026664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0632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Generate CRR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3273552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9728" y="3355848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331012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Documents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3547872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9728" y="3630168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" y="358444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Products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382219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9728" y="390448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85876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Approvals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09651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9728" y="417880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" y="4133087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Contracting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37083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9728" y="445312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6032" y="4407407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Account Activation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645151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681727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Welcoming Client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46520"/>
            <a:ext cx="1920240" cy="41148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37160" y="6492240"/>
            <a:ext cx="274320" cy="2743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" y="651052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" y="65196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AB4C8"/>
                </a:solidFill>
                <a:latin typeface="Arial"/>
              </a:rPr>
              <a:t>Relationship Manager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20240" y="0"/>
            <a:ext cx="1026871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20240" y="566928"/>
            <a:ext cx="10268712" cy="9144"/>
          </a:xfrm>
          <a:prstGeom prst="rect">
            <a:avLst/>
          </a:prstGeom>
          <a:noFill/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29968" y="731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F36"/>
                </a:solidFill>
                <a:latin typeface="Arial"/>
              </a:rPr>
              <a:t>EDD Assessment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29968" y="3657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KYC · Enhanced Due Diligence — Calculation, Display &amp; External Routing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18288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  <a:latin typeface="Arial"/>
              </a:rPr>
              <a:t>CLM  /  KYC  /  EDD Assessment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731520"/>
            <a:ext cx="9921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057400" y="731520"/>
            <a:ext cx="9921240" cy="347472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94560" y="786384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TOP LAYER  —  Calculation &amp; Display  |  Results at Partner &amp; eligible related party level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48840" y="1170432"/>
            <a:ext cx="235915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148840" y="1170432"/>
            <a:ext cx="2359152" cy="45720"/>
          </a:xfrm>
          <a:prstGeom prst="rect">
            <a:avLst/>
          </a:prstGeom>
          <a:solidFill>
            <a:srgbClr val="D00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971800" y="1261872"/>
            <a:ext cx="658368" cy="658368"/>
          </a:xfrm>
          <a:prstGeom prst="ellipse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71800" y="134416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J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40280" y="196596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John Doe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40280" y="221284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57575"/>
                </a:solidFill>
                <a:latin typeface="Arial"/>
              </a:rPr>
              <a:t>Partner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06040" y="2468880"/>
            <a:ext cx="1444752" cy="256032"/>
          </a:xfrm>
          <a:prstGeom prst="rect">
            <a:avLst/>
          </a:prstGeom>
          <a:solidFill>
            <a:srgbClr val="D00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06040" y="2478024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EDD: HIGH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99432" y="1170432"/>
            <a:ext cx="235915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99432" y="1170432"/>
            <a:ext cx="23591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422392" y="1261872"/>
            <a:ext cx="658368" cy="658368"/>
          </a:xfrm>
          <a:prstGeom prst="ellipse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22392" y="134416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J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90872" y="196596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Jane Smith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90872" y="221284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57575"/>
                </a:solidFill>
                <a:latin typeface="Arial"/>
              </a:rPr>
              <a:t>Related Party 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56632" y="2468880"/>
            <a:ext cx="1444752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56632" y="2478024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EDD: MEDIUM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50024" y="1170432"/>
            <a:ext cx="235915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50024" y="1170432"/>
            <a:ext cx="2359152" cy="45720"/>
          </a:xfrm>
          <a:prstGeom prst="rect">
            <a:avLst/>
          </a:prstGeom>
          <a:solidFill>
            <a:srgbClr val="00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72984" y="1261872"/>
            <a:ext cx="658368" cy="658368"/>
          </a:xfrm>
          <a:prstGeom prst="ellipse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72984" y="134416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41464" y="196596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Company XYZ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41464" y="221284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57575"/>
                </a:solidFill>
                <a:latin typeface="Arial"/>
              </a:rPr>
              <a:t>Related Party 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507224" y="2468880"/>
            <a:ext cx="1444752" cy="256032"/>
          </a:xfrm>
          <a:prstGeom prst="rect">
            <a:avLst/>
          </a:prstGeom>
          <a:solidFill>
            <a:srgbClr val="00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507224" y="2478024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EDD: LOW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500616" y="1170432"/>
            <a:ext cx="235915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500616" y="1170432"/>
            <a:ext cx="2359152" cy="4572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323576" y="1261872"/>
            <a:ext cx="658368" cy="658368"/>
          </a:xfrm>
          <a:prstGeom prst="ellipse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23576" y="134416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592056" y="196596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Trust Alpha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92056" y="221284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57575"/>
                </a:solidFill>
                <a:latin typeface="Arial"/>
              </a:rPr>
              <a:t>Related Party 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957816" y="2468880"/>
            <a:ext cx="1444752" cy="256032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957816" y="2478024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EDD: PENDING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057400" y="4069080"/>
            <a:ext cx="992124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057400" y="4069080"/>
            <a:ext cx="9921240" cy="347472"/>
          </a:xfrm>
          <a:prstGeom prst="rect">
            <a:avLst/>
          </a:prstGeom>
          <a:solidFill>
            <a:srgbClr val="34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94560" y="4123944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BOTTOM LAYER  —  External Routing  |  Provision to add EDD case to external application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240280" y="4526280"/>
            <a:ext cx="2286000" cy="1783080"/>
          </a:xfrm>
          <a:prstGeom prst="rect">
            <a:avLst/>
          </a:prstGeom>
          <a:solidFill>
            <a:srgbClr val="F4F5F7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240280" y="45902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EDD Assessment
Node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240280" y="51389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757575"/>
                </a:solidFill>
                <a:latin typeface="Arial"/>
              </a:rPr>
              <a:t>'New Case
Creation'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26280" y="5367528"/>
            <a:ext cx="1645920" cy="9144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526280" y="5120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57575"/>
                </a:solidFill>
                <a:latin typeface="Arial"/>
              </a:rPr>
              <a:t>[ Integration ]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309360" y="4498848"/>
            <a:ext cx="2286000" cy="5029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09360" y="45628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+ Add EDD Case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823960" y="4498848"/>
            <a:ext cx="3017520" cy="1783080"/>
          </a:xfrm>
          <a:prstGeom prst="rect">
            <a:avLst/>
          </a:prstGeom>
          <a:solidFill>
            <a:srgbClr val="F4F5F7"/>
          </a:solidFill>
          <a:ln w="12700">
            <a:solidFill>
              <a:srgbClr val="005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15400" y="45902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AA7"/>
                </a:solidFill>
                <a:latin typeface="Arial"/>
              </a:rPr>
              <a:t>External EDD App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15400" y="493776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57575"/>
                </a:solidFill>
                <a:latin typeface="Arial"/>
              </a:rPr>
              <a:t>Route to EDD app to create a new case (PQS)
Case ID auto-generated and returned to CLM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86400" y="5257800"/>
            <a:ext cx="1691640" cy="228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486400" y="5266944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757575"/>
                </a:solidFill>
                <a:latin typeface="Arial"/>
              </a:rPr>
              <a:t>System Boundary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920240" cy="64008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91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2001A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8"/>
                </a:solidFill>
                <a:latin typeface="Arial"/>
              </a:rPr>
              <a:t>CLM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49808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" y="832103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786384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Client Information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024127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06070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Partner Info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271016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30759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Business Relationship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517904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" y="1600200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1554480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KYC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1792224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82880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Client Profile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2039112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075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Name Screening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322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Source of Wealth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2532888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56946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Due Diligence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2779776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8163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EDD Assessment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3026664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0632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Generate CRR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3273552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728" y="3355848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" y="331012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Documents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3547872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728" y="3630168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358444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Products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3822191"/>
            <a:ext cx="1920240" cy="2743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9728" y="3904487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" y="385876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Approvals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09651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9728" y="417880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4133087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Contracting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37083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9728" y="445312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032" y="4407407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Account Activation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645151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4681727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Welcoming Client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46520"/>
            <a:ext cx="1920240" cy="41148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37160" y="6492240"/>
            <a:ext cx="274320" cy="2743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" y="651052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" y="65196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AB4C8"/>
                </a:solidFill>
                <a:latin typeface="Arial"/>
              </a:rPr>
              <a:t>Relationship Manager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20240" y="0"/>
            <a:ext cx="1026871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20240" y="566928"/>
            <a:ext cx="10268712" cy="9144"/>
          </a:xfrm>
          <a:prstGeom prst="rect">
            <a:avLst/>
          </a:prstGeom>
          <a:noFill/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9968" y="731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F36"/>
                </a:solidFill>
                <a:latin typeface="Arial"/>
              </a:rPr>
              <a:t>Cross-Module Dependency: EDD → Approvals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9968" y="3657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Status tracking from EDD Assessment into Approvals Dashboard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18288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  <a:latin typeface="Arial"/>
              </a:rPr>
              <a:t>CLM  /  KYC  /  Cross-Module Dependency: EDD → Approvals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57400" y="731520"/>
            <a:ext cx="9921240" cy="5806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40280" y="1005840"/>
            <a:ext cx="2560320" cy="3657600"/>
          </a:xfrm>
          <a:prstGeom prst="rect">
            <a:avLst/>
          </a:prstGeom>
          <a:solidFill>
            <a:srgbClr val="F4F5F7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40280" y="1005840"/>
            <a:ext cx="2560320" cy="347472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77440" y="104241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EDD Assessment Node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31720" y="14813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F36"/>
                </a:solidFill>
                <a:latin typeface="Arial"/>
              </a:rPr>
              <a:t>New Case Creation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31720" y="18288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Once an EDD case is submitted via
the external app, the case ID and
status are returned to CLM.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00600" y="2788920"/>
            <a:ext cx="1371600" cy="9144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00600" y="25420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Status Tracking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55080" y="1005840"/>
            <a:ext cx="539496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55080" y="1005840"/>
            <a:ext cx="5394960" cy="347472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92240" y="104241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[ Data Display ]  Approvals Dashboard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92240" y="1463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All relevant approvals with status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73952" y="1810512"/>
            <a:ext cx="5166360" cy="658368"/>
          </a:xfrm>
          <a:prstGeom prst="rect">
            <a:avLst/>
          </a:prstGeom>
          <a:solidFill>
            <a:srgbClr val="F4F5F7"/>
          </a:solidFill>
          <a:ln w="381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3952" y="1810512"/>
            <a:ext cx="54864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01968" y="190195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  <a:latin typeface="Arial"/>
              </a:rPr>
              <a:t>CPAC Draft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92640" y="1975104"/>
            <a:ext cx="1645920" cy="274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92640" y="19842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Pending Review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73952" y="2560320"/>
            <a:ext cx="5166360" cy="658368"/>
          </a:xfrm>
          <a:prstGeom prst="rect">
            <a:avLst/>
          </a:prstGeom>
          <a:solidFill>
            <a:srgbClr val="F4F5F7"/>
          </a:solidFill>
          <a:ln w="381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3952" y="2560320"/>
            <a:ext cx="54864" cy="658368"/>
          </a:xfrm>
          <a:prstGeom prst="rect">
            <a:avLst/>
          </a:prstGeom>
          <a:solidFill>
            <a:srgbClr val="00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01968" y="26517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  <a:latin typeface="Arial"/>
              </a:rPr>
              <a:t>CRR Sign-off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92640" y="2724912"/>
            <a:ext cx="1645920" cy="274320"/>
          </a:xfrm>
          <a:prstGeom prst="rect">
            <a:avLst/>
          </a:prstGeom>
          <a:solidFill>
            <a:srgbClr val="00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92640" y="27340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Approved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73952" y="3310128"/>
            <a:ext cx="5166360" cy="658368"/>
          </a:xfrm>
          <a:prstGeom prst="rect">
            <a:avLst/>
          </a:prstGeom>
          <a:solidFill>
            <a:srgbClr val="F4F5F7"/>
          </a:solidFill>
          <a:ln w="381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73952" y="3310128"/>
            <a:ext cx="54864" cy="658368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01968" y="34015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  <a:latin typeface="Arial"/>
              </a:rPr>
              <a:t>EDD Case #00391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692640" y="3474720"/>
            <a:ext cx="1645920" cy="274320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692640" y="34838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Under Review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73952" y="4059935"/>
            <a:ext cx="5166360" cy="658368"/>
          </a:xfrm>
          <a:prstGeom prst="rect">
            <a:avLst/>
          </a:prstGeom>
          <a:solidFill>
            <a:srgbClr val="F4F5F7"/>
          </a:solidFill>
          <a:ln w="381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473952" y="4059935"/>
            <a:ext cx="54864" cy="658368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601968" y="4151375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  <a:latin typeface="Arial"/>
              </a:rPr>
              <a:t>KYC Completion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692640" y="4224527"/>
            <a:ext cx="1645920" cy="27432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692640" y="423367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Awaiting EDD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55080" y="5687568"/>
            <a:ext cx="5394960" cy="658368"/>
          </a:xfrm>
          <a:prstGeom prst="rect">
            <a:avLst/>
          </a:prstGeom>
          <a:solidFill>
            <a:srgbClr val="1A1F36"/>
          </a:solidFill>
          <a:ln w="19050">
            <a:solidFill>
              <a:srgbClr val="D00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92240" y="5724144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CCCC"/>
                </a:solidFill>
                <a:latin typeface="Arial"/>
              </a:rPr>
              <a:t>[ ACTION REQUIRED — RAM ]
TBC: Check if approval actions can be performed natively in CLM app
or is it purely read-only tracking for EDD cases.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920240" cy="64008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91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2001A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8"/>
                </a:solidFill>
                <a:latin typeface="Arial"/>
              </a:rPr>
              <a:t>CLM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49808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" y="832103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786384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Client Information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024127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06070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Partner Info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271016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30759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Business Relationship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517904"/>
            <a:ext cx="1920240" cy="2743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" y="1600200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1554480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KYC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1792224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82880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Client Profile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2039112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075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Name Screening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322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Source of Wealth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2532888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56946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Due Diligence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2779776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8163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EDD Assessment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3026664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0632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Generate CRR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3273552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728" y="3355848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" y="331012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Documents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3547872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728" y="3630168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358444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Products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382219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9728" y="390448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" y="3858768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Approvals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09651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9728" y="417880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4133087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Contracting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370831"/>
            <a:ext cx="1920240" cy="274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9728" y="4453127"/>
            <a:ext cx="73152" cy="73152"/>
          </a:xfrm>
          <a:prstGeom prst="rect">
            <a:avLst/>
          </a:prstGeom>
          <a:solidFill>
            <a:srgbClr val="5A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032" y="4407407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Account Activation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645151"/>
            <a:ext cx="1920240" cy="246888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4681727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AA8C0"/>
                </a:solidFill>
                <a:latin typeface="Arial"/>
              </a:rPr>
              <a:t>— Welcoming Client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46520"/>
            <a:ext cx="1920240" cy="41148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37160" y="6492240"/>
            <a:ext cx="274320" cy="2743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" y="651052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" y="65196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AB4C8"/>
                </a:solidFill>
                <a:latin typeface="Arial"/>
              </a:rPr>
              <a:t>Relationship Manager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20240" y="0"/>
            <a:ext cx="1026871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20240" y="566928"/>
            <a:ext cx="10268712" cy="9144"/>
          </a:xfrm>
          <a:prstGeom prst="rect">
            <a:avLst/>
          </a:prstGeom>
          <a:noFill/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9968" y="731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F36"/>
                </a:solidFill>
                <a:latin typeface="Arial"/>
              </a:rPr>
              <a:t>State of the Build — Knowns vs. Unknowns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9968" y="3657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Resolution of these blockers is required to finalize front-end sprint planning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18288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57575"/>
                </a:solidFill>
                <a:latin typeface="Arial"/>
              </a:rPr>
              <a:t>CLM  /  KYC  /  State of the Build — Knowns vs. Unknowns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57400" y="731520"/>
            <a:ext cx="4800600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057400" y="731520"/>
            <a:ext cx="4800600" cy="411480"/>
          </a:xfrm>
          <a:prstGeom prst="rect">
            <a:avLst/>
          </a:prstGeom>
          <a:solidFill>
            <a:srgbClr val="00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94560" y="777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✓  Ready for Development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76272" y="1261872"/>
            <a:ext cx="4553712" cy="960120"/>
          </a:xfrm>
          <a:prstGeom prst="rect">
            <a:avLst/>
          </a:prstGeom>
          <a:solidFill>
            <a:srgbClr val="F4F5F7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286000" y="1517904"/>
            <a:ext cx="411480" cy="411480"/>
          </a:xfrm>
          <a:prstGeom prst="ellipse">
            <a:avLst/>
          </a:prstGeom>
          <a:solidFill>
            <a:srgbClr val="00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86000" y="15544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16352" y="151790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Arial"/>
              </a:rPr>
              <a:t>UI expand/collapse accordions for Due Diligence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76272" y="2340863"/>
            <a:ext cx="4553712" cy="960120"/>
          </a:xfrm>
          <a:prstGeom prst="rect">
            <a:avLst/>
          </a:prstGeom>
          <a:solidFill>
            <a:srgbClr val="F4F5F7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286000" y="2596896"/>
            <a:ext cx="411480" cy="411480"/>
          </a:xfrm>
          <a:prstGeom prst="ellipse">
            <a:avLst/>
          </a:prstGeom>
          <a:solidFill>
            <a:srgbClr val="00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86000" y="2633471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16352" y="2596896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Arial"/>
              </a:rPr>
              <a:t>CPAC / CRR document generation logic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176272" y="3419856"/>
            <a:ext cx="4553712" cy="960120"/>
          </a:xfrm>
          <a:prstGeom prst="rect">
            <a:avLst/>
          </a:prstGeom>
          <a:solidFill>
            <a:srgbClr val="F4F5F7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286000" y="3675887"/>
            <a:ext cx="411480" cy="411480"/>
          </a:xfrm>
          <a:prstGeom prst="ellipse">
            <a:avLst/>
          </a:prstGeom>
          <a:solidFill>
            <a:srgbClr val="00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86000" y="3712463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16352" y="3675887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Arial"/>
              </a:rPr>
              <a:t>Read-only NMS status display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176272" y="4498848"/>
            <a:ext cx="4553712" cy="960120"/>
          </a:xfrm>
          <a:prstGeom prst="rect">
            <a:avLst/>
          </a:prstGeom>
          <a:solidFill>
            <a:srgbClr val="F4F5F7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286000" y="4754880"/>
            <a:ext cx="411480" cy="411480"/>
          </a:xfrm>
          <a:prstGeom prst="ellipse">
            <a:avLst/>
          </a:prstGeom>
          <a:solidFill>
            <a:srgbClr val="00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86000" y="479145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16352" y="47548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Arial"/>
              </a:rPr>
              <a:t>Dynamic internal LHS generation for EDD parties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995160" y="731520"/>
            <a:ext cx="4983480" cy="589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0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95160" y="731520"/>
            <a:ext cx="4983480" cy="411480"/>
          </a:xfrm>
          <a:prstGeom prst="rect">
            <a:avLst/>
          </a:prstGeom>
          <a:solidFill>
            <a:srgbClr val="D00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32320" y="7772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⚠  Development Blockers &amp; TBCs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114032" y="1261872"/>
            <a:ext cx="4754880" cy="1444752"/>
          </a:xfrm>
          <a:prstGeom prst="rect">
            <a:avLst/>
          </a:prstGeom>
          <a:solidFill>
            <a:srgbClr val="FFF0F0"/>
          </a:solidFill>
          <a:ln w="9525">
            <a:solidFill>
              <a:srgbClr val="D00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223760" y="1517904"/>
            <a:ext cx="384048" cy="38404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223760" y="156362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26679" y="135331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0021B"/>
                </a:solidFill>
                <a:latin typeface="Arial"/>
              </a:rPr>
              <a:t>[Architecture]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26679" y="1627631"/>
            <a:ext cx="4023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Do SOW Narrative &amp; Corroboration agents share a single screen or require split screen development?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14032" y="2834639"/>
            <a:ext cx="4754880" cy="1444752"/>
          </a:xfrm>
          <a:prstGeom prst="rect">
            <a:avLst/>
          </a:prstGeom>
          <a:solidFill>
            <a:srgbClr val="FFF0F0"/>
          </a:solidFill>
          <a:ln w="9525">
            <a:solidFill>
              <a:srgbClr val="D00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223760" y="3090672"/>
            <a:ext cx="384048" cy="38404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223760" y="3136391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26679" y="2926079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0021B"/>
                </a:solidFill>
                <a:latin typeface="Arial"/>
              </a:rPr>
              <a:t>[Capability — Ram]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26679" y="3200399"/>
            <a:ext cx="4023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Can approval actions be performed natively within CLM, or is it purely a read-only tracking view for EDD cases?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114032" y="4407408"/>
            <a:ext cx="4754880" cy="1444752"/>
          </a:xfrm>
          <a:prstGeom prst="rect">
            <a:avLst/>
          </a:prstGeom>
          <a:solidFill>
            <a:srgbClr val="FFF0F0"/>
          </a:solidFill>
          <a:ln w="9525">
            <a:solidFill>
              <a:srgbClr val="D00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223760" y="4663440"/>
            <a:ext cx="384048" cy="38404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223760" y="4709160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26679" y="449884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0021B"/>
                </a:solidFill>
                <a:latin typeface="Arial"/>
              </a:rPr>
              <a:t>[Clarification]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26679" y="4773168"/>
            <a:ext cx="4023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Confirm ACMO screen development boundaries for Name Screening integration before sprint planning.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57400" y="6565392"/>
            <a:ext cx="9921240" cy="201168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76272" y="6583680"/>
            <a:ext cx="9692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Resolution of these three blockers is required before front-end sprint planning can be finalized.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