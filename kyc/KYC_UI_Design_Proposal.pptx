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❊ 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ABB"/>
                </a:solidFill>
                <a:latin typeface="Arial"/>
              </a:rPr>
              <a:t>You &amp;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Client Lifecycle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C8E2"/>
                </a:solidFill>
                <a:latin typeface="Arial"/>
              </a:rPr>
              <a:t>KYC Module — UI Design Proposal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90672"/>
            <a:ext cx="7772400" cy="4572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5526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88AA"/>
                </a:solidFill>
                <a:latin typeface="Arial"/>
              </a:rPr>
              <a:t>ONB ID: 000236 852  ·  Version 1.0  ·  Scope: KYC Sub-Modules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1408176" cy="274320"/>
          </a:xfrm>
          <a:prstGeom prst="rect">
            <a:avLst/>
          </a:prstGeom>
          <a:solidFill>
            <a:srgbClr val="1E233C"/>
          </a:solidFill>
          <a:ln w="9525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785615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Client Profile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9967" y="3749039"/>
            <a:ext cx="1952244" cy="274320"/>
          </a:xfrm>
          <a:prstGeom prst="rect">
            <a:avLst/>
          </a:prstGeom>
          <a:solidFill>
            <a:srgbClr val="1E233C"/>
          </a:solidFill>
          <a:ln w="9525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785615"/>
            <a:ext cx="18608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Initial Due Diligence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6804" y="3749039"/>
            <a:ext cx="1408176" cy="274320"/>
          </a:xfrm>
          <a:prstGeom prst="rect">
            <a:avLst/>
          </a:prstGeom>
          <a:solidFill>
            <a:srgbClr val="1E233C"/>
          </a:solidFill>
          <a:ln w="9525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19956" y="3785615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Name Screening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9572" y="3749039"/>
            <a:ext cx="1563624" cy="274320"/>
          </a:xfrm>
          <a:prstGeom prst="rect">
            <a:avLst/>
          </a:prstGeom>
          <a:solidFill>
            <a:srgbClr val="1E233C"/>
          </a:solidFill>
          <a:ln w="9525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2724" y="3785615"/>
            <a:ext cx="1472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Source of Wealth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47788" y="3749039"/>
            <a:ext cx="2029968" cy="274320"/>
          </a:xfrm>
          <a:prstGeom prst="rect">
            <a:avLst/>
          </a:prstGeom>
          <a:solidFill>
            <a:srgbClr val="1E233C"/>
          </a:solidFill>
          <a:ln w="9525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0940" y="3785615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Enhanced Due Diligence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492240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Confidential  ·  Internal Use Only  ·  © UBS Group AG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64208" cy="475488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❊ UBS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548640"/>
            <a:ext cx="1463040" cy="219456"/>
          </a:xfrm>
          <a:prstGeom prst="rect">
            <a:avLst/>
          </a:prstGeom>
          <a:solidFill>
            <a:srgbClr val="1E233C"/>
          </a:solidFill>
          <a:ln w="6350">
            <a:solidFill>
              <a:srgbClr val="33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" y="576072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0C8"/>
                </a:solidFill>
                <a:latin typeface="Arial"/>
              </a:rPr>
              <a:t>ONB ID  000236 852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039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9052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Case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97280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11521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Case Progress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34416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3990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Documents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91056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" y="16459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Client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64592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837944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189280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Partner Information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8483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21396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Business Relationship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331720"/>
            <a:ext cx="1664208" cy="246888"/>
          </a:xfrm>
          <a:prstGeom prst="rect">
            <a:avLst/>
          </a:prstGeom>
          <a:solidFill>
            <a:srgbClr val="1E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331720"/>
            <a:ext cx="36576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" y="23865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386584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578608"/>
            <a:ext cx="1664208" cy="246888"/>
          </a:xfrm>
          <a:prstGeom prst="rect">
            <a:avLst/>
          </a:prstGeom>
          <a:solidFill>
            <a:srgbClr val="1E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2578608"/>
            <a:ext cx="36576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" y="26334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Client Profile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2825496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28803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Initial Due Diligence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072384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" y="312724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Name Screening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31927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337413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Source of Wealth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3566160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" y="362102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Enhanced Due Diligence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81304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" y="3867911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Products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059935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" y="411479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Contracting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306823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" y="4361687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Approvals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553711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" y="460857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Account Activation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608575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00599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" y="4855463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Welcoming Client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664208" cy="3200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" y="6565392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9ABB"/>
                </a:solidFill>
                <a:latin typeface="Arial"/>
              </a:rPr>
              <a:t>User's Full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" y="6720840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67899"/>
                </a:solidFill>
                <a:latin typeface="Arial"/>
              </a:rPr>
              <a:t>Help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64208" y="0"/>
            <a:ext cx="1052474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64208" y="420624"/>
            <a:ext cx="10524744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83080" y="82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30"/>
                </a:solidFill>
                <a:latin typeface="Arial"/>
              </a:rPr>
              <a:t>Client Profile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109728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2001A"/>
                </a:solidFill>
                <a:latin typeface="Arial"/>
              </a:rPr>
              <a:t>Details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84048"/>
            <a:ext cx="850392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25512" y="109728"/>
            <a:ext cx="14264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Related Person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6296" y="10972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Suite Card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97896" y="109728"/>
            <a:ext cx="932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Tax Info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19072" y="484632"/>
            <a:ext cx="1938528" cy="5980176"/>
          </a:xfrm>
          <a:prstGeom prst="rect">
            <a:avLst/>
          </a:prstGeom>
          <a:solidFill>
            <a:srgbClr val="F5F6F8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56231" y="594360"/>
            <a:ext cx="17556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E30"/>
                </a:solidFill>
                <a:latin typeface="Arial"/>
              </a:rPr>
              <a:t>Steps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01568" y="594360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Arial"/>
              </a:rPr>
              <a:t>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10512" y="850392"/>
            <a:ext cx="175564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19072" y="941832"/>
            <a:ext cx="193852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719072" y="941832"/>
            <a:ext cx="36576" cy="347472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28800" y="1024128"/>
            <a:ext cx="128016" cy="128016"/>
          </a:xfrm>
          <a:prstGeom prst="ellipse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29967" y="100584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E30"/>
                </a:solidFill>
                <a:latin typeface="Arial"/>
              </a:rPr>
              <a:t>Purpose of Business Relationship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19072" y="1344168"/>
            <a:ext cx="1938528" cy="34747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28800" y="1426464"/>
            <a:ext cx="128016" cy="128016"/>
          </a:xfrm>
          <a:prstGeom prst="ellipse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29967" y="1408176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Activities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19072" y="1746504"/>
            <a:ext cx="1938528" cy="34747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28800" y="1828800"/>
            <a:ext cx="128016" cy="128016"/>
          </a:xfrm>
          <a:prstGeom prst="ellipse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29967" y="181051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CPAC Draft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03320" y="484632"/>
            <a:ext cx="8485632" cy="59801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86200" y="6583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30"/>
                </a:solidFill>
                <a:latin typeface="Arial"/>
              </a:rPr>
              <a:t>Purpose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94760" y="914400"/>
            <a:ext cx="8302752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40480" y="100584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Purpose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1188720"/>
            <a:ext cx="3657600" cy="256032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96912" y="1207008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0" y="1444752"/>
            <a:ext cx="8092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Details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0" y="1627632"/>
            <a:ext cx="80924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0" y="21031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001A"/>
                </a:solidFill>
                <a:latin typeface="Arial"/>
              </a:rPr>
              <a:t>+ Add Purpose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64208" y="6492240"/>
            <a:ext cx="105247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664208" y="6492240"/>
            <a:ext cx="10524744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778240" y="6556248"/>
            <a:ext cx="822960" cy="256032"/>
          </a:xfrm>
          <a:prstGeom prst="rect">
            <a:avLst/>
          </a:prstGeom>
          <a:solidFill>
            <a:srgbClr val="F0F1F5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78240" y="657453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E"/>
                </a:solidFill>
                <a:latin typeface="Arial"/>
              </a:rPr>
              <a:t>Back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74352" y="6556248"/>
            <a:ext cx="1005840" cy="256032"/>
          </a:xfrm>
          <a:prstGeom prst="rect">
            <a:avLst/>
          </a:prstGeom>
          <a:solidFill>
            <a:srgbClr val="F0F1F5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74352" y="657453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E"/>
                </a:solidFill>
                <a:latin typeface="Arial"/>
              </a:rPr>
              <a:t>Save Draft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753344" y="6556248"/>
            <a:ext cx="1325880" cy="256032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753344" y="657453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Save and continue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64208" cy="475488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❊ UBS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548640"/>
            <a:ext cx="1463040" cy="219456"/>
          </a:xfrm>
          <a:prstGeom prst="rect">
            <a:avLst/>
          </a:prstGeom>
          <a:solidFill>
            <a:srgbClr val="1E233C"/>
          </a:solidFill>
          <a:ln w="6350">
            <a:solidFill>
              <a:srgbClr val="33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" y="576072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0C8"/>
                </a:solidFill>
                <a:latin typeface="Arial"/>
              </a:rPr>
              <a:t>ONB ID  000236 852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039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9052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Case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97280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11521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Case Progress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34416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3990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Documents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91056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" y="16459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Client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64592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837944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189280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Partner Information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8483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21396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Business Relationship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331720"/>
            <a:ext cx="1664208" cy="246888"/>
          </a:xfrm>
          <a:prstGeom prst="rect">
            <a:avLst/>
          </a:prstGeom>
          <a:solidFill>
            <a:srgbClr val="1E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331720"/>
            <a:ext cx="36576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" y="23865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386584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57860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6334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Client 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2825496"/>
            <a:ext cx="1664208" cy="246888"/>
          </a:xfrm>
          <a:prstGeom prst="rect">
            <a:avLst/>
          </a:prstGeom>
          <a:solidFill>
            <a:srgbClr val="1E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2825496"/>
            <a:ext cx="36576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28803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Initial Due Diligence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072384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" y="312724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Name Screening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31927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337413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Source of Wealth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3566160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" y="362102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Enhanced Due Diligence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81304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" y="3867911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Products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059935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" y="411479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Contracting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306823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" y="4361687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Approvals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553711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" y="460857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Account Activation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608575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00599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" y="4855463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Welcoming Client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664208" cy="3200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" y="6565392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9ABB"/>
                </a:solidFill>
                <a:latin typeface="Arial"/>
              </a:rPr>
              <a:t>User's Full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" y="6720840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67899"/>
                </a:solidFill>
                <a:latin typeface="Arial"/>
              </a:rPr>
              <a:t>Help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64208" y="0"/>
            <a:ext cx="1052474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64208" y="420624"/>
            <a:ext cx="10524744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83080" y="82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30"/>
                </a:solidFill>
                <a:latin typeface="Arial"/>
              </a:rPr>
              <a:t>Due Diligence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19072" y="484632"/>
            <a:ext cx="1938528" cy="5980176"/>
          </a:xfrm>
          <a:prstGeom prst="rect">
            <a:avLst/>
          </a:prstGeom>
          <a:solidFill>
            <a:srgbClr val="F5F6F8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56231" y="594360"/>
            <a:ext cx="17556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E30"/>
                </a:solidFill>
                <a:latin typeface="Arial"/>
              </a:rPr>
              <a:t>Steps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01568" y="594360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Arial"/>
              </a:rPr>
              <a:t>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10512" y="850392"/>
            <a:ext cx="175564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719072" y="941832"/>
            <a:ext cx="19385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19072" y="941832"/>
            <a:ext cx="36576" cy="4572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828800" y="1024128"/>
            <a:ext cx="128016" cy="128016"/>
          </a:xfrm>
          <a:prstGeom prst="ellipse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29967" y="100584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E30"/>
                </a:solidFill>
                <a:latin typeface="Arial"/>
              </a:rPr>
              <a:t>Julia Clerio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29967" y="1197864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A8C2"/>
                </a:solidFill>
                <a:latin typeface="Arial"/>
              </a:rPr>
              <a:t>Contractual Partner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29967" y="1243584"/>
            <a:ext cx="1481328" cy="54864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29967" y="1243584"/>
            <a:ext cx="592531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719072" y="1444752"/>
            <a:ext cx="1938528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828800" y="1527048"/>
            <a:ext cx="128016" cy="128016"/>
          </a:xfrm>
          <a:prstGeom prst="ellipse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29967" y="15087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Reto Muster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29967" y="1700784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A8C2"/>
                </a:solidFill>
                <a:latin typeface="Arial"/>
              </a:rPr>
              <a:t>Beneficial Owner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03320" y="484632"/>
            <a:ext cx="8485632" cy="59801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86200" y="6217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30"/>
                </a:solidFill>
                <a:latin typeface="Arial"/>
              </a:rPr>
              <a:t>Julia Clerio — Contractual Partner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896112"/>
            <a:ext cx="8302752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40480" y="1005840"/>
            <a:ext cx="3977639" cy="114300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77640" y="10972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Politically Exposed Person (PEP)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77640" y="140817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Is the partner a Politically Exposed Person?</a:t>
            </a:r>
          </a:p>
        </p:txBody>
      </p:sp>
      <p:sp>
        <p:nvSpPr>
          <p:cNvPr id="74" name="Oval 73"/>
          <p:cNvSpPr/>
          <p:nvPr/>
        </p:nvSpPr>
        <p:spPr>
          <a:xfrm>
            <a:off x="3977640" y="175564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42232" y="174650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Yes</a:t>
            </a:r>
          </a:p>
        </p:txBody>
      </p:sp>
      <p:sp>
        <p:nvSpPr>
          <p:cNvPr id="76" name="Oval 75"/>
          <p:cNvSpPr/>
          <p:nvPr/>
        </p:nvSpPr>
        <p:spPr>
          <a:xfrm>
            <a:off x="4782312" y="175564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46904" y="174650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82712" y="1005840"/>
            <a:ext cx="3977639" cy="114300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19872" y="10972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Sensitive Country Affected Parties (SCAP)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19872" y="140817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Is the partner domiciled in a sensitive country (SCAP-1)?</a:t>
            </a:r>
          </a:p>
        </p:txBody>
      </p:sp>
      <p:sp>
        <p:nvSpPr>
          <p:cNvPr id="81" name="Oval 80"/>
          <p:cNvSpPr/>
          <p:nvPr/>
        </p:nvSpPr>
        <p:spPr>
          <a:xfrm>
            <a:off x="8119872" y="175564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84464" y="174650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Yes</a:t>
            </a:r>
          </a:p>
        </p:txBody>
      </p:sp>
      <p:sp>
        <p:nvSpPr>
          <p:cNvPr id="83" name="Oval 82"/>
          <p:cNvSpPr/>
          <p:nvPr/>
        </p:nvSpPr>
        <p:spPr>
          <a:xfrm>
            <a:off x="8924544" y="175564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89136" y="174650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40480" y="2286000"/>
            <a:ext cx="3977639" cy="114300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77640" y="23774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Sensitive Industry or Activity Affected Parties (SIAP)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77640" y="268833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Is the partner involved in a sensitive industry or activity?</a:t>
            </a:r>
          </a:p>
        </p:txBody>
      </p:sp>
      <p:sp>
        <p:nvSpPr>
          <p:cNvPr id="88" name="Oval 87"/>
          <p:cNvSpPr/>
          <p:nvPr/>
        </p:nvSpPr>
        <p:spPr>
          <a:xfrm>
            <a:off x="3977640" y="303580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42232" y="302666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Yes</a:t>
            </a:r>
          </a:p>
        </p:txBody>
      </p:sp>
      <p:sp>
        <p:nvSpPr>
          <p:cNvPr id="90" name="Oval 89"/>
          <p:cNvSpPr/>
          <p:nvPr/>
        </p:nvSpPr>
        <p:spPr>
          <a:xfrm>
            <a:off x="4782312" y="303580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46904" y="302666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82712" y="2286000"/>
            <a:ext cx="3977639" cy="114300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19872" y="23774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Sensitive Intermediary (SIM)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19872" y="268833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Is the contracting partner a Sensitive Intermediary (SIM)?</a:t>
            </a:r>
          </a:p>
        </p:txBody>
      </p:sp>
      <p:sp>
        <p:nvSpPr>
          <p:cNvPr id="95" name="Oval 94"/>
          <p:cNvSpPr/>
          <p:nvPr/>
        </p:nvSpPr>
        <p:spPr>
          <a:xfrm>
            <a:off x="8119872" y="303580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284464" y="302666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Yes</a:t>
            </a:r>
          </a:p>
        </p:txBody>
      </p:sp>
      <p:sp>
        <p:nvSpPr>
          <p:cNvPr id="97" name="Oval 96"/>
          <p:cNvSpPr/>
          <p:nvPr/>
        </p:nvSpPr>
        <p:spPr>
          <a:xfrm>
            <a:off x="8924544" y="303580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89136" y="302666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No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840480" y="3566160"/>
            <a:ext cx="3977639" cy="114300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977640" y="36576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Sanctions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77640" y="396849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Is the partner related to sanctions?</a:t>
            </a:r>
          </a:p>
        </p:txBody>
      </p:sp>
      <p:sp>
        <p:nvSpPr>
          <p:cNvPr id="102" name="Oval 101"/>
          <p:cNvSpPr/>
          <p:nvPr/>
        </p:nvSpPr>
        <p:spPr>
          <a:xfrm>
            <a:off x="3977640" y="431596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142232" y="430682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Yes</a:t>
            </a:r>
          </a:p>
        </p:txBody>
      </p:sp>
      <p:sp>
        <p:nvSpPr>
          <p:cNvPr id="104" name="Oval 103"/>
          <p:cNvSpPr/>
          <p:nvPr/>
        </p:nvSpPr>
        <p:spPr>
          <a:xfrm>
            <a:off x="4782312" y="431596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946904" y="430682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No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982712" y="3566160"/>
            <a:ext cx="3977639" cy="114300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119872" y="36576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Corporate Holder / Closely Associated Person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19872" y="396849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Is the partner a Corporate Holder or Closely Associated Person?</a:t>
            </a:r>
          </a:p>
        </p:txBody>
      </p:sp>
      <p:sp>
        <p:nvSpPr>
          <p:cNvPr id="109" name="Oval 108"/>
          <p:cNvSpPr/>
          <p:nvPr/>
        </p:nvSpPr>
        <p:spPr>
          <a:xfrm>
            <a:off x="8119872" y="431596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284464" y="430682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Yes</a:t>
            </a:r>
          </a:p>
        </p:txBody>
      </p:sp>
      <p:sp>
        <p:nvSpPr>
          <p:cNvPr id="111" name="Oval 110"/>
          <p:cNvSpPr/>
          <p:nvPr/>
        </p:nvSpPr>
        <p:spPr>
          <a:xfrm>
            <a:off x="8924544" y="431596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089136" y="430682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E30"/>
                </a:solidFill>
                <a:latin typeface="Arial"/>
              </a:rPr>
              <a:t>No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664208" y="6492240"/>
            <a:ext cx="105247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664208" y="6492240"/>
            <a:ext cx="10524744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778240" y="6556248"/>
            <a:ext cx="822960" cy="256032"/>
          </a:xfrm>
          <a:prstGeom prst="rect">
            <a:avLst/>
          </a:prstGeom>
          <a:solidFill>
            <a:srgbClr val="F0F1F5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778240" y="657453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E"/>
                </a:solidFill>
                <a:latin typeface="Arial"/>
              </a:rPr>
              <a:t>Back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674352" y="6556248"/>
            <a:ext cx="1005840" cy="256032"/>
          </a:xfrm>
          <a:prstGeom prst="rect">
            <a:avLst/>
          </a:prstGeom>
          <a:solidFill>
            <a:srgbClr val="F0F1F5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74352" y="657453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E"/>
                </a:solidFill>
                <a:latin typeface="Arial"/>
              </a:rPr>
              <a:t>Save Draft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753344" y="6556248"/>
            <a:ext cx="1325880" cy="256032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753344" y="657453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Save and continue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64208" cy="475488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❊ UBS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548640"/>
            <a:ext cx="1463040" cy="219456"/>
          </a:xfrm>
          <a:prstGeom prst="rect">
            <a:avLst/>
          </a:prstGeom>
          <a:solidFill>
            <a:srgbClr val="1E233C"/>
          </a:solidFill>
          <a:ln w="6350">
            <a:solidFill>
              <a:srgbClr val="33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" y="576072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0C8"/>
                </a:solidFill>
                <a:latin typeface="Arial"/>
              </a:rPr>
              <a:t>ONB ID  000236 852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039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9052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Case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97280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11521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Case Progress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34416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3990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Documents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91056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" y="16459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Client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64592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837944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189280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Partner Information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8483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21396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Business Relationship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331720"/>
            <a:ext cx="1664208" cy="246888"/>
          </a:xfrm>
          <a:prstGeom prst="rect">
            <a:avLst/>
          </a:prstGeom>
          <a:solidFill>
            <a:srgbClr val="1E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331720"/>
            <a:ext cx="36576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" y="23865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386584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57860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6334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Client 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2825496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" y="28803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Initial Due Diligence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3072384"/>
            <a:ext cx="1664208" cy="246888"/>
          </a:xfrm>
          <a:prstGeom prst="rect">
            <a:avLst/>
          </a:prstGeom>
          <a:solidFill>
            <a:srgbClr val="1E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3072384"/>
            <a:ext cx="36576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" y="312724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Name Screening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31927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337413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Source of Wealth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3566160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" y="362102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Enhanced Due Diligence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81304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" y="3867911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Products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059935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" y="411479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Contracting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306823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" y="4361687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Approvals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553711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" y="460857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Account Activation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608575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00599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" y="4855463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Welcoming Client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664208" cy="3200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" y="6565392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9ABB"/>
                </a:solidFill>
                <a:latin typeface="Arial"/>
              </a:rPr>
              <a:t>User's Full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" y="6720840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67899"/>
                </a:solidFill>
                <a:latin typeface="Arial"/>
              </a:rPr>
              <a:t>Help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64208" y="0"/>
            <a:ext cx="1052474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64208" y="420624"/>
            <a:ext cx="10524744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83080" y="82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30"/>
                </a:solidFill>
                <a:latin typeface="Arial"/>
              </a:rPr>
              <a:t>Name Screening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19072" y="484632"/>
            <a:ext cx="1938528" cy="5980176"/>
          </a:xfrm>
          <a:prstGeom prst="rect">
            <a:avLst/>
          </a:prstGeom>
          <a:solidFill>
            <a:srgbClr val="F5F6F8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56231" y="594360"/>
            <a:ext cx="17556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E30"/>
                </a:solidFill>
                <a:latin typeface="Arial"/>
              </a:rPr>
              <a:t>Steps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01568" y="594360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Arial"/>
              </a:rPr>
              <a:t>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10512" y="850392"/>
            <a:ext cx="175564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719072" y="941832"/>
            <a:ext cx="19385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19072" y="941832"/>
            <a:ext cx="36576" cy="4572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828800" y="1024128"/>
            <a:ext cx="128016" cy="128016"/>
          </a:xfrm>
          <a:prstGeom prst="ellipse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29967" y="100584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E30"/>
                </a:solidFill>
                <a:latin typeface="Arial"/>
              </a:rPr>
              <a:t>Julia Clerio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29967" y="1197864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A8C2"/>
                </a:solidFill>
                <a:latin typeface="Arial"/>
              </a:rPr>
              <a:t>Contractual Partner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29967" y="1243584"/>
            <a:ext cx="1481328" cy="54864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29967" y="1243584"/>
            <a:ext cx="592531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719072" y="1444752"/>
            <a:ext cx="1938528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828800" y="1527048"/>
            <a:ext cx="128016" cy="128016"/>
          </a:xfrm>
          <a:prstGeom prst="ellipse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29967" y="15087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Reto Muster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29967" y="1700784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A8C2"/>
                </a:solidFill>
                <a:latin typeface="Arial"/>
              </a:rPr>
              <a:t>Beneficial Owner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03320" y="484632"/>
            <a:ext cx="8485632" cy="59801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86200" y="6217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30"/>
                </a:solidFill>
                <a:latin typeface="Arial"/>
              </a:rPr>
              <a:t>Julia Clerio — Contractual Partner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896112"/>
            <a:ext cx="8302752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94760" y="969264"/>
            <a:ext cx="8302752" cy="310896"/>
          </a:xfrm>
          <a:prstGeom prst="rect">
            <a:avLst/>
          </a:prstGeom>
          <a:solidFill>
            <a:srgbClr val="E8F4FF"/>
          </a:solidFill>
          <a:ln w="6350">
            <a:solidFill>
              <a:srgbClr val="99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13632" y="1005840"/>
            <a:ext cx="8001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5AA7"/>
                </a:solidFill>
                <a:latin typeface="Arial"/>
              </a:rPr>
              <a:t>ℹ  Read-only display — NMS integration. No screen development required from ACMO.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40480" y="13898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NMS ID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40480" y="1591056"/>
            <a:ext cx="3931920" cy="292608"/>
          </a:xfrm>
          <a:prstGeom prst="rect">
            <a:avLst/>
          </a:prstGeom>
          <a:solidFill>
            <a:srgbClr val="F5F6F8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50208" y="16459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E30"/>
                </a:solidFill>
                <a:latin typeface="Arial"/>
              </a:rPr>
              <a:t>NMS-2026-00391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46720" y="13898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Screening Status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46720" y="1591056"/>
            <a:ext cx="3931920" cy="292608"/>
          </a:xfrm>
          <a:prstGeom prst="rect">
            <a:avLst/>
          </a:prstGeom>
          <a:solidFill>
            <a:srgbClr val="F5F6F8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56448" y="16459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D"/>
                </a:solidFill>
                <a:latin typeface="Arial"/>
              </a:rPr>
              <a:t>CLEARED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40480" y="2075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Screening Date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40480" y="2276856"/>
            <a:ext cx="3931920" cy="292608"/>
          </a:xfrm>
          <a:prstGeom prst="rect">
            <a:avLst/>
          </a:prstGeom>
          <a:solidFill>
            <a:srgbClr val="F5F6F8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50208" y="23317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E30"/>
                </a:solidFill>
                <a:latin typeface="Arial"/>
              </a:rPr>
              <a:t>08 March 2026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46720" y="2075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Screened By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46720" y="2276856"/>
            <a:ext cx="3931920" cy="292608"/>
          </a:xfrm>
          <a:prstGeom prst="rect">
            <a:avLst/>
          </a:prstGeom>
          <a:solidFill>
            <a:srgbClr val="F5F6F8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56448" y="23317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E30"/>
                </a:solidFill>
                <a:latin typeface="Arial"/>
              </a:rPr>
              <a:t>NMS Agent (Automated)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40480" y="27614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Expiry Date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40480" y="2962656"/>
            <a:ext cx="3931920" cy="292608"/>
          </a:xfrm>
          <a:prstGeom prst="rect">
            <a:avLst/>
          </a:prstGeom>
          <a:solidFill>
            <a:srgbClr val="F5F6F8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950208" y="3017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E30"/>
                </a:solidFill>
                <a:latin typeface="Arial"/>
              </a:rPr>
              <a:t>08 March 2027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46720" y="27614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Last Updated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46720" y="2962656"/>
            <a:ext cx="3931920" cy="292608"/>
          </a:xfrm>
          <a:prstGeom prst="rect">
            <a:avLst/>
          </a:prstGeom>
          <a:solidFill>
            <a:srgbClr val="F5F6F8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56448" y="3017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E30"/>
                </a:solidFill>
                <a:latin typeface="Arial"/>
              </a:rPr>
              <a:t>08 March 2026  14:22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94760" y="3749039"/>
            <a:ext cx="8302752" cy="347472"/>
          </a:xfrm>
          <a:prstGeom prst="rect">
            <a:avLst/>
          </a:prstGeom>
          <a:solidFill>
            <a:srgbClr val="F0F8FF"/>
          </a:solidFill>
          <a:ln w="6350">
            <a:solidFill>
              <a:srgbClr val="99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913632" y="3813048"/>
            <a:ext cx="8001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5AA7"/>
                </a:solidFill>
                <a:latin typeface="Arial"/>
              </a:rPr>
              <a:t>🔗  Link to NMS Tool (TBD) — Pending integration confirmation from ACMO  ·  Assigned to: Ram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64208" y="6492240"/>
            <a:ext cx="105247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64208" y="6492240"/>
            <a:ext cx="10524744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78240" y="6556248"/>
            <a:ext cx="822960" cy="256032"/>
          </a:xfrm>
          <a:prstGeom prst="rect">
            <a:avLst/>
          </a:prstGeom>
          <a:solidFill>
            <a:srgbClr val="F0F1F5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778240" y="657453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E"/>
                </a:solidFill>
                <a:latin typeface="Arial"/>
              </a:rPr>
              <a:t>Back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674352" y="6556248"/>
            <a:ext cx="1005840" cy="256032"/>
          </a:xfrm>
          <a:prstGeom prst="rect">
            <a:avLst/>
          </a:prstGeom>
          <a:solidFill>
            <a:srgbClr val="F0F1F5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74352" y="657453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E"/>
                </a:solidFill>
                <a:latin typeface="Arial"/>
              </a:rPr>
              <a:t>Save Draft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753344" y="6556248"/>
            <a:ext cx="1325880" cy="256032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753344" y="657453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Save and continue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64208" cy="475488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❊ UBS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548640"/>
            <a:ext cx="1463040" cy="219456"/>
          </a:xfrm>
          <a:prstGeom prst="rect">
            <a:avLst/>
          </a:prstGeom>
          <a:solidFill>
            <a:srgbClr val="1E233C"/>
          </a:solidFill>
          <a:ln w="6350">
            <a:solidFill>
              <a:srgbClr val="33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" y="576072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0C8"/>
                </a:solidFill>
                <a:latin typeface="Arial"/>
              </a:rPr>
              <a:t>ONB ID  000236 852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039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9052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Case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97280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11521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Case Progress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34416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3990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Documents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91056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" y="16459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Client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64592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837944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189280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Partner Information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8483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21396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Business Relationship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331720"/>
            <a:ext cx="1664208" cy="246888"/>
          </a:xfrm>
          <a:prstGeom prst="rect">
            <a:avLst/>
          </a:prstGeom>
          <a:solidFill>
            <a:srgbClr val="1E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331720"/>
            <a:ext cx="36576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" y="23865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386584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57860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6334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Client 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2825496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" y="28803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Initial Due Diligence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3072384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312724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Name Screening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3319272"/>
            <a:ext cx="1664208" cy="246888"/>
          </a:xfrm>
          <a:prstGeom prst="rect">
            <a:avLst/>
          </a:prstGeom>
          <a:solidFill>
            <a:srgbClr val="1E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319272"/>
            <a:ext cx="36576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337413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Source of Wealth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3566160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" y="362102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Enhanced Due Diligence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81304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" y="3867911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Products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059935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" y="411479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Contracting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306823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" y="4361687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Approvals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553711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" y="460857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Account Activation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608575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00599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" y="4855463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Welcoming Client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664208" cy="3200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" y="6565392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9ABB"/>
                </a:solidFill>
                <a:latin typeface="Arial"/>
              </a:rPr>
              <a:t>User's Full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" y="6720840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67899"/>
                </a:solidFill>
                <a:latin typeface="Arial"/>
              </a:rPr>
              <a:t>Help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64208" y="0"/>
            <a:ext cx="1052474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64208" y="420624"/>
            <a:ext cx="10524744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83080" y="82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30"/>
                </a:solidFill>
                <a:latin typeface="Arial"/>
              </a:rPr>
              <a:t>Source of Wealth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19072" y="484632"/>
            <a:ext cx="1938528" cy="5980176"/>
          </a:xfrm>
          <a:prstGeom prst="rect">
            <a:avLst/>
          </a:prstGeom>
          <a:solidFill>
            <a:srgbClr val="F5F6F8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56231" y="594360"/>
            <a:ext cx="17556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E30"/>
                </a:solidFill>
                <a:latin typeface="Arial"/>
              </a:rPr>
              <a:t>Steps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01568" y="594360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Arial"/>
              </a:rPr>
              <a:t>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10512" y="850392"/>
            <a:ext cx="175564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719072" y="941832"/>
            <a:ext cx="19385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19072" y="941832"/>
            <a:ext cx="36576" cy="4572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828800" y="1024128"/>
            <a:ext cx="128016" cy="128016"/>
          </a:xfrm>
          <a:prstGeom prst="ellipse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29967" y="100584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E30"/>
                </a:solidFill>
                <a:latin typeface="Arial"/>
              </a:rPr>
              <a:t>Julia Clerio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29967" y="1197864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A8C2"/>
                </a:solidFill>
                <a:latin typeface="Arial"/>
              </a:rPr>
              <a:t>Contractual Partner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29967" y="1243584"/>
            <a:ext cx="1481328" cy="54864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29967" y="1243584"/>
            <a:ext cx="592531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719072" y="1444752"/>
            <a:ext cx="1938528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828800" y="1527048"/>
            <a:ext cx="128016" cy="128016"/>
          </a:xfrm>
          <a:prstGeom prst="ellipse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29967" y="15087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Reto Muster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29967" y="1700784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A8C2"/>
                </a:solidFill>
                <a:latin typeface="Arial"/>
              </a:rPr>
              <a:t>Beneficial Owner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03320" y="484632"/>
            <a:ext cx="8485632" cy="59801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86200" y="6217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30"/>
                </a:solidFill>
                <a:latin typeface="Arial"/>
              </a:rPr>
              <a:t>Julia Clerio — Contractual Partner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896112"/>
            <a:ext cx="8302752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94760" y="969264"/>
            <a:ext cx="8302752" cy="310896"/>
          </a:xfrm>
          <a:prstGeom prst="rect">
            <a:avLst/>
          </a:prstGeom>
          <a:solidFill>
            <a:srgbClr val="FFEDED"/>
          </a:solidFill>
          <a:ln w="635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13632" y="1005840"/>
            <a:ext cx="8001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001A"/>
                </a:solidFill>
                <a:latin typeface="Arial"/>
              </a:rPr>
              <a:t>⚠  TBC: Determine if SOW Narrative &amp; Corroboration use shared or split screens for agents.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0" y="1389888"/>
            <a:ext cx="2670048" cy="4462272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840480" y="1389888"/>
            <a:ext cx="2670048" cy="4572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50208" y="149961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E30"/>
                </a:solidFill>
                <a:latin typeface="Arial"/>
              </a:rPr>
              <a:t>i)  Financial Information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31920" y="1792224"/>
            <a:ext cx="248716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50208" y="192024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AUM (Total)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50208" y="2121408"/>
            <a:ext cx="2423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50208" y="260604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Asset Breakdown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950208" y="2807208"/>
            <a:ext cx="2423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50208" y="329184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Income Sources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950208" y="3493008"/>
            <a:ext cx="2423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950208" y="4956048"/>
            <a:ext cx="2423160" cy="292608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50208" y="498348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No action required — pre-filled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56832" y="1389888"/>
            <a:ext cx="2670048" cy="4462272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656832" y="1389888"/>
            <a:ext cx="2670048" cy="457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66560" y="149961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E30"/>
                </a:solidFill>
                <a:latin typeface="Arial"/>
              </a:rPr>
              <a:t>ii) SOW Narrative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748272" y="1792224"/>
            <a:ext cx="248716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66560" y="192024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Narrative Description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66560" y="2121408"/>
            <a:ext cx="2423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66560" y="260604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Source of Funds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766560" y="2807208"/>
            <a:ext cx="2423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766560" y="329184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Agent Confirmation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66560" y="3493008"/>
            <a:ext cx="2423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766560" y="4956048"/>
            <a:ext cx="2423160" cy="29260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766560" y="498348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Agent input required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473184" y="1389888"/>
            <a:ext cx="2670048" cy="4462272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473184" y="1389888"/>
            <a:ext cx="2670048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582911" y="149961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E30"/>
                </a:solidFill>
                <a:latin typeface="Arial"/>
              </a:rPr>
              <a:t>iii) SOW Corroboration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564624" y="1792224"/>
            <a:ext cx="248716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582911" y="192024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Supporting Documents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582911" y="2121408"/>
            <a:ext cx="2423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582911" y="260604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Verification Status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82911" y="2807208"/>
            <a:ext cx="2423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82911" y="329184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Document Reference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582911" y="3493008"/>
            <a:ext cx="2423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582911" y="4956048"/>
            <a:ext cx="2423160" cy="2926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582911" y="498348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Document upload required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664208" y="6492240"/>
            <a:ext cx="105247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664208" y="6492240"/>
            <a:ext cx="10524744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778240" y="6556248"/>
            <a:ext cx="822960" cy="256032"/>
          </a:xfrm>
          <a:prstGeom prst="rect">
            <a:avLst/>
          </a:prstGeom>
          <a:solidFill>
            <a:srgbClr val="F0F1F5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778240" y="657453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E"/>
                </a:solidFill>
                <a:latin typeface="Arial"/>
              </a:rPr>
              <a:t>Back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74352" y="6556248"/>
            <a:ext cx="1005840" cy="256032"/>
          </a:xfrm>
          <a:prstGeom prst="rect">
            <a:avLst/>
          </a:prstGeom>
          <a:solidFill>
            <a:srgbClr val="F0F1F5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74352" y="657453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E"/>
                </a:solidFill>
                <a:latin typeface="Arial"/>
              </a:rPr>
              <a:t>Save Draft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753344" y="6556248"/>
            <a:ext cx="1325880" cy="256032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753344" y="657453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Save and continue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64208" cy="475488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❊ UBS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548640"/>
            <a:ext cx="1463040" cy="219456"/>
          </a:xfrm>
          <a:prstGeom prst="rect">
            <a:avLst/>
          </a:prstGeom>
          <a:solidFill>
            <a:srgbClr val="1E233C"/>
          </a:solidFill>
          <a:ln w="6350">
            <a:solidFill>
              <a:srgbClr val="33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" y="576072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0C8"/>
                </a:solidFill>
                <a:latin typeface="Arial"/>
              </a:rPr>
              <a:t>ONB ID  000236 852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039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9052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Case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97280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11521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Case Progress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34416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3990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Documents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91056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" y="16459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Client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64592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837944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189280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Partner Information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8483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21396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Business Relationship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331720"/>
            <a:ext cx="1664208" cy="246888"/>
          </a:xfrm>
          <a:prstGeom prst="rect">
            <a:avLst/>
          </a:prstGeom>
          <a:solidFill>
            <a:srgbClr val="1E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331720"/>
            <a:ext cx="36576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" y="23865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386584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57860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6334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Client 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2825496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" y="28803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Initial Due Diligence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3072384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312724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Name Screening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3319272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" y="337413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Source of Wealth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3566160"/>
            <a:ext cx="1664208" cy="246888"/>
          </a:xfrm>
          <a:prstGeom prst="rect">
            <a:avLst/>
          </a:prstGeom>
          <a:solidFill>
            <a:srgbClr val="1E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3566160"/>
            <a:ext cx="36576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" y="362102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Enhanced Due Diligence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813048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" y="3867911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Products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059935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" y="411479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Contracting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306823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" y="4361687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Approvals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553711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" y="460857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2E8"/>
                </a:solidFill>
                <a:latin typeface="Arial"/>
              </a:rPr>
              <a:t>Account Activation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608575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E"/>
                </a:solidFill>
                <a:latin typeface="Arial"/>
              </a:rPr>
              <a:t>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00599"/>
            <a:ext cx="1664208" cy="24688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" y="4855463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ABB"/>
                </a:solidFill>
                <a:latin typeface="Arial"/>
              </a:rPr>
              <a:t>Welcoming Client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664208" cy="3200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" y="6565392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9ABB"/>
                </a:solidFill>
                <a:latin typeface="Arial"/>
              </a:rPr>
              <a:t>User's Full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" y="6720840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67899"/>
                </a:solidFill>
                <a:latin typeface="Arial"/>
              </a:rPr>
              <a:t>Help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64208" y="0"/>
            <a:ext cx="1052474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64208" y="420624"/>
            <a:ext cx="10524744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83080" y="82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30"/>
                </a:solidFill>
                <a:latin typeface="Arial"/>
              </a:rPr>
              <a:t>Enhanced Due Diligence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19072" y="484632"/>
            <a:ext cx="1938528" cy="5980176"/>
          </a:xfrm>
          <a:prstGeom prst="rect">
            <a:avLst/>
          </a:prstGeom>
          <a:solidFill>
            <a:srgbClr val="F5F6F8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56231" y="594360"/>
            <a:ext cx="17556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E30"/>
                </a:solidFill>
                <a:latin typeface="Arial"/>
              </a:rPr>
              <a:t>Steps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01568" y="594360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Arial"/>
              </a:rPr>
              <a:t>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10512" y="850392"/>
            <a:ext cx="175564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719072" y="941832"/>
            <a:ext cx="19385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19072" y="941832"/>
            <a:ext cx="36576" cy="4572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828800" y="1024128"/>
            <a:ext cx="128016" cy="128016"/>
          </a:xfrm>
          <a:prstGeom prst="ellipse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29967" y="100584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E30"/>
                </a:solidFill>
                <a:latin typeface="Arial"/>
              </a:rPr>
              <a:t>Julia Clerio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29967" y="1197864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A8C2"/>
                </a:solidFill>
                <a:latin typeface="Arial"/>
              </a:rPr>
              <a:t>Contractual Partner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29967" y="1243584"/>
            <a:ext cx="1481328" cy="54864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29967" y="1243584"/>
            <a:ext cx="592531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719072" y="1444752"/>
            <a:ext cx="1938528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828800" y="1527048"/>
            <a:ext cx="128016" cy="128016"/>
          </a:xfrm>
          <a:prstGeom prst="ellipse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29967" y="15087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E"/>
                </a:solidFill>
                <a:latin typeface="Arial"/>
              </a:rPr>
              <a:t>Reto Muster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29967" y="1700784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A8C2"/>
                </a:solidFill>
                <a:latin typeface="Arial"/>
              </a:rPr>
              <a:t>Beneficial Owner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03320" y="484632"/>
            <a:ext cx="8485632" cy="59801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86200" y="6217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30"/>
                </a:solidFill>
                <a:latin typeface="Arial"/>
              </a:rPr>
              <a:t>Julia Clerio — Contractual Partner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896112"/>
            <a:ext cx="8302752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22191" y="987552"/>
            <a:ext cx="2670048" cy="237744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22191" y="987552"/>
            <a:ext cx="2670048" cy="45720"/>
          </a:xfrm>
          <a:prstGeom prst="rect">
            <a:avLst/>
          </a:prstGeom>
          <a:solidFill>
            <a:srgbClr val="C0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31920" y="10789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Anticipated Account Activity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13631" y="1408176"/>
            <a:ext cx="248716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31920" y="149047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Transaction Types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31920" y="167335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31920" y="199339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Expected Frequency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31920" y="217627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31920" y="249631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Expected Volume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931920" y="267919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38544" y="987552"/>
            <a:ext cx="2670048" cy="237744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638544" y="987552"/>
            <a:ext cx="2670048" cy="45720"/>
          </a:xfrm>
          <a:prstGeom prst="rect">
            <a:avLst/>
          </a:prstGeom>
          <a:solidFill>
            <a:srgbClr val="E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48272" y="10789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Assets Under Management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29983" y="1408176"/>
            <a:ext cx="248716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48272" y="149047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Projected AUM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48272" y="167335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48272" y="199339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Asset Class Breakdown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748272" y="217627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48272" y="249631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Geography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48272" y="267919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454896" y="987552"/>
            <a:ext cx="2670048" cy="237744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454896" y="987552"/>
            <a:ext cx="2670048" cy="4572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64624" y="10789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NDB — Retained Assets in UBS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46336" y="1408176"/>
            <a:ext cx="248716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64624" y="149047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Asset Description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564624" y="167335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564624" y="199339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Estimated Value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564624" y="217627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564624" y="249631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Booking Centre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564624" y="267919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822191" y="3502152"/>
            <a:ext cx="2670048" cy="237744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22191" y="3502152"/>
            <a:ext cx="2670048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35935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SOW Narrative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913631" y="3922776"/>
            <a:ext cx="248716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931920" y="400507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Wealth Source Description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31920" y="418795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931920" y="450799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Agent Narrative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931920" y="469087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931920" y="501091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Consistency Check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931920" y="519379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638544" y="3502152"/>
            <a:ext cx="2670048" cy="237744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638544" y="3502152"/>
            <a:ext cx="2670048" cy="45720"/>
          </a:xfrm>
          <a:prstGeom prst="rect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748272" y="35935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SOW Corroboration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29983" y="3922776"/>
            <a:ext cx="248716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48272" y="400507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Supporting Documents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748272" y="418795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748272" y="450799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Document Type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748272" y="469087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748272" y="501091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Verification Status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748272" y="519379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454896" y="3502152"/>
            <a:ext cx="2670048" cy="2377440"/>
          </a:xfrm>
          <a:prstGeom prst="rect">
            <a:avLst/>
          </a:prstGeom>
          <a:solidFill>
            <a:srgbClr val="FAFAFC"/>
          </a:solidFill>
          <a:ln w="635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454896" y="3502152"/>
            <a:ext cx="2670048" cy="45720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564624" y="35935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E30"/>
                </a:solidFill>
                <a:latin typeface="Arial"/>
              </a:rPr>
              <a:t>CA Confirmation on SOW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46336" y="3922776"/>
            <a:ext cx="2487168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64624" y="400507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CA Sign-Off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564624" y="418795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564624" y="450799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Confirmation Date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564624" y="469087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564624" y="5010912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078"/>
                </a:solidFill>
                <a:latin typeface="Arial"/>
              </a:rPr>
              <a:t>CA Name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564624" y="5193792"/>
            <a:ext cx="2423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564624" y="5559552"/>
            <a:ext cx="2423160" cy="256032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564624" y="5586983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CA Sign-Off Required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664208" y="6492240"/>
            <a:ext cx="105247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664208" y="6492240"/>
            <a:ext cx="10524744" cy="4572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78240" y="6556248"/>
            <a:ext cx="822960" cy="256032"/>
          </a:xfrm>
          <a:prstGeom prst="rect">
            <a:avLst/>
          </a:prstGeom>
          <a:solidFill>
            <a:srgbClr val="F0F1F5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778240" y="657453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E"/>
                </a:solidFill>
                <a:latin typeface="Arial"/>
              </a:rPr>
              <a:t>Back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74352" y="6556248"/>
            <a:ext cx="1005840" cy="256032"/>
          </a:xfrm>
          <a:prstGeom prst="rect">
            <a:avLst/>
          </a:prstGeom>
          <a:solidFill>
            <a:srgbClr val="F0F1F5"/>
          </a:solidFill>
          <a:ln w="6350">
            <a:solidFill>
              <a:srgbClr val="C8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74352" y="657453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E"/>
                </a:solidFill>
                <a:latin typeface="Arial"/>
              </a:rPr>
              <a:t>Save Draft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753344" y="6556248"/>
            <a:ext cx="1325880" cy="256032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753344" y="657453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Save and continue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